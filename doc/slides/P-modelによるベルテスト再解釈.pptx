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8" r:id="rId4"/>
    <p:sldId id="266" r:id="rId5"/>
    <p:sldId id="267" r:id="rId6"/>
    <p:sldId id="268" r:id="rId7"/>
    <p:sldId id="269" r:id="rId8"/>
    <p:sldId id="263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DCBE"/>
    <a:srgbClr val="E1D1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4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https://en.wikipedia.org/wiki/CHSH_inequality (CHSHの定義・目的)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https://arxiv.org/abs/quant-ph/0312035 (coincidenceが設定依存だとベル不等式の扱いが変わる：Larsson &amp; Gill)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https://arxiv.org/abs/quant-ph/0312035 (coincidence-time依存の一般化)
- https://en.wikipedia.org/wiki/CHSH_inequality (CHSHの定義)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P-model によるベルテスト再解釈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2834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検出時刻（time-tag）変調 → 事象選別の偏り → CHSH前提の崩壊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10881360" cy="2286000"/>
          </a:xfrm>
          <a:prstGeom prst="roundRect">
            <a:avLst/>
          </a:prstGeom>
          <a:solidFill>
            <a:srgbClr val="0F2C55"/>
          </a:solidFill>
          <a:ln w="12700">
            <a:solidFill>
              <a:srgbClr val="2140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16052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目的：量子もつれの観測（ベル違反）を、P-model（時間波）で説明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キー仮説：時間波が検出時刻を支配し、同時計数による“ペア採用”が設定依存に偏る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結果：CHSHの「同一母集団平均」前提が崩れ、|S|≤2 を適用できない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簡易まとめ（草案）｜2026-01-10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55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P-model解釈：time-tag が揺れると何が起きるか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35640" cy="544068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P-model仮説：検出タイムタグが測定条件で変動し、同時計数による採用が条件依存に偏る。</a:t>
            </a:r>
            <a:endParaRPr lang="en-US" sz="12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95567BE-D9AF-36D8-02B1-EBEFAA0C9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751" y="1005840"/>
            <a:ext cx="9536498" cy="536428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D842B9-A97E-0471-D0F9-0EF0D8DFAD31}"/>
              </a:ext>
            </a:extLst>
          </p:cNvPr>
          <p:cNvSpPr txBox="1"/>
          <p:nvPr/>
        </p:nvSpPr>
        <p:spPr>
          <a:xfrm>
            <a:off x="2580605" y="5590550"/>
            <a:ext cx="4688734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実際には、</a:t>
            </a:r>
            <a:r>
              <a:rPr kumimoji="1" lang="ja-JP" altLang="en-US" sz="1400" b="1" dirty="0">
                <a:solidFill>
                  <a:srgbClr val="FF0000"/>
                </a:solidFill>
              </a:rPr>
              <a:t>一致ペア</a:t>
            </a:r>
            <a:r>
              <a:rPr kumimoji="1" lang="ja-JP" altLang="en-US" sz="1400" b="1" dirty="0">
                <a:solidFill>
                  <a:schemeClr val="bg1"/>
                </a:solidFill>
              </a:rPr>
              <a:t>は量子状態だけでなくタイムタグによって選別される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4FE79AA-123C-4A83-38DB-3C3A18AFFE4F}"/>
              </a:ext>
            </a:extLst>
          </p:cNvPr>
          <p:cNvSpPr txBox="1"/>
          <p:nvPr/>
        </p:nvSpPr>
        <p:spPr>
          <a:xfrm>
            <a:off x="7683877" y="5188382"/>
            <a:ext cx="2914843" cy="979081"/>
          </a:xfrm>
          <a:prstGeom prst="rect">
            <a:avLst/>
          </a:prstGeom>
          <a:solidFill>
            <a:srgbClr val="EBDCBE"/>
          </a:solidFill>
          <a:ln>
            <a:noFill/>
          </a:ln>
          <a:effectLst/>
        </p:spPr>
        <p:txBody>
          <a:bodyPr wrap="square" rtlCol="0">
            <a:noAutofit/>
          </a:bodyPr>
          <a:lstStyle/>
          <a:p>
            <a:r>
              <a:rPr kumimoji="1" lang="en-US" altLang="ja-JP" sz="1400" b="1" dirty="0">
                <a:solidFill>
                  <a:srgbClr val="FF0000"/>
                </a:solidFill>
                <a:latin typeface="+mn-ea"/>
              </a:rPr>
              <a:t>P-model:</a:t>
            </a:r>
          </a:p>
          <a:p>
            <a:r>
              <a:rPr kumimoji="1" lang="ja-JP" altLang="en-US" sz="1400" b="1" dirty="0">
                <a:latin typeface="+mn-ea"/>
              </a:rPr>
              <a:t>検出タイムタグは測定条件で変動し、一致ペアの選別を偏りを生じさせる。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標準ベルテストのデータ生成フロ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ー（time-tag を含む）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778240" y="2011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実験手順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2423160" cy="9144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SPDC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ペア生成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320040" cy="0"/>
          </a:xfrm>
          <a:prstGeom prst="line">
            <a:avLst/>
          </a:prstGeom>
          <a:noFill/>
          <a:ln w="3175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20440" y="1234440"/>
            <a:ext cx="2423160" cy="9144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3716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A/Bへ分離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(空間)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320040" cy="0"/>
          </a:xfrm>
          <a:prstGeom prst="line">
            <a:avLst/>
          </a:prstGeom>
          <a:noFill/>
          <a:ln w="3175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63640" y="1234440"/>
            <a:ext cx="2423160" cy="914400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3716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基底選択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(波長板)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0" y="1691640"/>
            <a:ext cx="320040" cy="0"/>
          </a:xfrm>
          <a:prstGeom prst="line">
            <a:avLst/>
          </a:prstGeom>
          <a:noFill/>
          <a:ln w="3175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06840" y="1234440"/>
            <a:ext cx="2423160" cy="914400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3716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PBS＋検出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(±1)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18420" y="2148840"/>
            <a:ext cx="0" cy="548640"/>
          </a:xfrm>
          <a:prstGeom prst="line">
            <a:avLst/>
          </a:prstGeom>
          <a:noFill/>
          <a:ln w="3175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" y="2697480"/>
            <a:ext cx="2423160" cy="914400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8346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time-tag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記録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3154680"/>
            <a:ext cx="320040" cy="0"/>
          </a:xfrm>
          <a:prstGeom prst="line">
            <a:avLst/>
          </a:prstGeom>
          <a:noFill/>
          <a:ln w="3175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20440" y="2697480"/>
            <a:ext cx="2423160" cy="914400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8346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同時計数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(窓Δ)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3154680"/>
            <a:ext cx="320040" cy="0"/>
          </a:xfrm>
          <a:prstGeom prst="line">
            <a:avLst/>
          </a:prstGeom>
          <a:noFill/>
          <a:ln w="31750">
            <a:solidFill>
              <a:srgbClr val="2E5AA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697480"/>
            <a:ext cx="2423160" cy="9144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8346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E,S計算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1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(CHSH)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2468880"/>
            <a:ext cx="5257800" cy="137160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4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4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赤枠＝「選別」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4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（採用される母集団を決める）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251960"/>
            <a:ext cx="11338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441655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観測される相関は「採用されたイベント集合」で決まる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4818888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323F"/>
                </a:solidFill>
                <a:latin typeface="+mn-ea"/>
                <a:cs typeface="Aptos" pitchFamily="34" charset="-120"/>
              </a:rPr>
              <a:t>・実験は必ず「AとBが同一ペアか？」を time-tag で判定する（同時計数）</a:t>
            </a:r>
            <a:endParaRPr lang="en-US" sz="160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323F"/>
                </a:solidFill>
                <a:latin typeface="+mn-ea"/>
                <a:cs typeface="Aptos" pitchFamily="34" charset="-120"/>
              </a:rPr>
              <a:t>・この判定が条件（a,b）で偏ると、4条件の平均が同一母集団でなくなる</a:t>
            </a:r>
            <a:endParaRPr lang="en-US" sz="1600" dirty="0">
              <a:latin typeface="+mn-ea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323F"/>
                </a:solidFill>
                <a:latin typeface="+mn-ea"/>
                <a:cs typeface="Aptos" pitchFamily="34" charset="-120"/>
              </a:rPr>
              <a:t>・すると CHSH の |S|≤2 を“そのまま”適用できない</a:t>
            </a:r>
            <a:endParaRPr lang="en-US" sz="1600" dirty="0">
              <a:latin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656832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次スライド：P-model は time-tag を「時間波 P」に結びつけて、この偏りを説明する。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55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問題提起：図に描かれていない「前提」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35640" cy="1188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6128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34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CHSH（|S|≤2）の導出は、4条件のデータが「同一母集団」から来ることを暗黙に仮定する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実験の実体（見落とされやすい点）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5486400" cy="138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ペア採用は「time-tag（検出時刻）」で定義される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Coincidence条件：|tA − tB| ≤ Δt（窓）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Δt窓に入る/入らないで、採用母集団が決まる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2084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この前提が崩れると…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2697480"/>
            <a:ext cx="4754880" cy="27432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4条件で「別々の母集団」を平均してしまい、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CHSH上限の適用条件が失われる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要点：ベル不等式は「因果」以前に、統計の取り方（採用集合）に依存する。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55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対比：従来（理想化） vs P-model（time-tag変調）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05840"/>
            <a:ext cx="5440680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従来（理想化）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4800600" cy="163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検出時刻は条件に依存しない（理想）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Δt窓は常に同じ意味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4条件のデータは同一母集団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CHSH |S|≤2 を適用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005840"/>
            <a:ext cx="5166360" cy="5349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34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P-model（time-tag）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1691640"/>
            <a:ext cx="4617720" cy="163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時間波Pが検出時刻を変調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装置遅延が設定(a,b)で変化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Δt窓内に入る率が条件依存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母集団が揃わずCHSH前提が崩壊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主張の焦点：通信ではなく「time-tag と選別（coincidence）」の物理。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55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差分予言：P-modelが当たるなら何が起きるか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“Sだけ”ではなく、Δt分布を同時に見る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11475720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10972800" cy="1715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9080" indent="-25908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予言1：同時計数窓 Δt を掃引すると S が系統的に動く（S(Δt)）</a:t>
            </a:r>
            <a:endParaRPr lang="en-US" sz="1700" dirty="0"/>
          </a:p>
          <a:p>
            <a:pPr marL="259080" indent="-25908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予言2：ペア化手順を「時間窓」→「固定試行（パルス番号）」へ変えると効果が減衰/消失</a:t>
            </a:r>
            <a:endParaRPr lang="en-US" sz="1700" dirty="0"/>
          </a:p>
          <a:p>
            <a:pPr marL="259080" indent="-25908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予言3：片側だけ遅延（光路/電子）を追加すると S と Δt 分布が非対称に変化</a:t>
            </a:r>
            <a:endParaRPr lang="en-US" sz="1700" dirty="0"/>
          </a:p>
          <a:p>
            <a:pPr marL="259080" indent="-25908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予言4：time-tagアルゴリズム（閾値/補間）を変えると結果が変わる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観測指標（最低限）：S値（CHSH）＋ Δt=tA−tB 分布（幅・歪み・条件依存）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55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切り分け：既存“loophole-free”との関係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標準側の対策（一般論）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715000" cy="163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設定を測定直前にランダム決定（自由選択）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空間的分離（spacelike）で因果遮断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検出効率の改善（選別バイアス低減）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試行をパルス番号で区切る（窓の恣意性低減）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960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34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P-modelが主張する追加の観測点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5120640" cy="5074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600200"/>
            <a:ext cx="4663440" cy="163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「因果遮断」でも time-tag は装置と時間構造に依存する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trial-based にしても、time-tagの揺らぎが残れば Δt分布に指紋が出る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“loophole-free”設計の中でも、Δt統計を同時提示する必要がある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反証可能性：Δt依存が無いならP-modelのこの主張は棄却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55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反証可能性：何が出たらP-model（この主張）が崩れるか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F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反証条件（例）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10972800" cy="138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Δt窓を大きく掃引しても S が統計誤差内で不変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Δt分布（幅/歪み）が測定設定(a,b)に依存しない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trial-based（固定パルス番号）でも同じSが再現され、Δt統計にも差が出ない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必要な公開（最低限）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840480"/>
            <a:ext cx="10972800" cy="138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生のtime-tag（tA,tB）と設定(a,b)のログ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coincidence条件（Δt, trial定義, アルゴリズム）の明示</a:t>
            </a:r>
            <a:endParaRPr lang="en-US" sz="1600" dirty="0"/>
          </a:p>
          <a:p>
            <a:pPr marL="243840" indent="-24384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Sだけでなく Δt分布の提示（条件ごと）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778240" y="2011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結論（暫定）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44200" cy="512064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002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今回の一連の整理（暫定結論）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2331720"/>
            <a:ext cx="10058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ベル（CHSH）の「上限2」は “同一母集団平均” が前提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実験は必ず time-tag でペア採用（同時計数）を行う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P-model：時間波Pが検出時刻を変調し、採用集合が条件依存に歪む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その結果、CHSH導出条件が崩れ、|S|≤2 を適用できない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次の一手：Sだけでなく Δt分布（時刻差統計）も同時提示し、検証を固める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補足：本デッキは「議論で固まったロジック」をスライド化した草案。実験データ（S、Δt分布、Δ掃引結果）を入れると完成。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767</Words>
  <Application>Microsoft Office PowerPoint</Application>
  <PresentationFormat>ワイド画面</PresentationFormat>
  <Paragraphs>105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Yu Gothic</vt:lpstr>
      <vt:lpstr>Aptos</vt:lpstr>
      <vt:lpstr>Aptos Display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shunji ogawa</cp:lastModifiedBy>
  <cp:revision>4</cp:revision>
  <dcterms:created xsi:type="dcterms:W3CDTF">2026-01-10T00:46:35Z</dcterms:created>
  <dcterms:modified xsi:type="dcterms:W3CDTF">2026-01-10T02:39:38Z</dcterms:modified>
</cp:coreProperties>
</file>