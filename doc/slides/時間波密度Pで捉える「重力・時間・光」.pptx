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64" r:id="rId4"/>
    <p:sldId id="258" r:id="rId5"/>
    <p:sldId id="265" r:id="rId6"/>
    <p:sldId id="259" r:id="rId7"/>
    <p:sldId id="266" r:id="rId8"/>
    <p:sldId id="260" r:id="rId9"/>
    <p:sldId id="267" r:id="rId10"/>
    <p:sldId id="261" r:id="rId11"/>
    <p:sldId id="268" r:id="rId12"/>
    <p:sldId id="262" r:id="rId13"/>
    <p:sldId id="269" r:id="rId14"/>
    <p:sldId id="263"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126" y="10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85414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Fermat's principle (principle of least/stationary time), Wikipedia: https://en.wikipedia.org/wiki/Fermat%27s_principle
- LibreTexts: Fermat's Principle (Geometrical Optics): https://phys.libretexts.org/Bookshelves/University_Physics/Radically_Modern_Introductory_Physics_Text_I_%28Raymond%29/03%3A_Geometrical_Optics/3.05%3A_Fermats_Principle
[/Sources]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Special relativity time dilation overview (LibreTexts): https://phys.libretexts.org/Courses/Chicago_State_University/PH_S_1150%3A_Basic_Astronomy/09%3A_Special_Relativity/9.02%3A_Time_Dilation
[/Sources]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2103120"/>
            <a:ext cx="11155680" cy="822960"/>
          </a:xfrm>
          <a:prstGeom prst="rect">
            <a:avLst/>
          </a:prstGeom>
          <a:noFill/>
          <a:ln/>
        </p:spPr>
        <p:txBody>
          <a:bodyPr wrap="square" rtlCol="0" anchor="ctr"/>
          <a:lstStyle/>
          <a:p>
            <a:pPr marL="0" indent="0">
              <a:buNone/>
            </a:pPr>
            <a:r>
              <a:rPr lang="en-US" sz="4000" b="1" dirty="0">
                <a:solidFill>
                  <a:srgbClr val="E6F1FF"/>
                </a:solidFill>
                <a:latin typeface="Yu Gothic" pitchFamily="34" charset="0"/>
                <a:ea typeface="Yu Gothic" pitchFamily="34" charset="-122"/>
                <a:cs typeface="Yu Gothic" pitchFamily="34" charset="-120"/>
              </a:rPr>
              <a:t>時間波密度Pで捉える「重力・時間・光」</a:t>
            </a:r>
            <a:endParaRPr lang="en-US" sz="4000" dirty="0"/>
          </a:p>
        </p:txBody>
      </p:sp>
      <p:sp>
        <p:nvSpPr>
          <p:cNvPr id="3" name="Text 1"/>
          <p:cNvSpPr/>
          <p:nvPr/>
        </p:nvSpPr>
        <p:spPr>
          <a:xfrm>
            <a:off x="548640" y="2971800"/>
            <a:ext cx="11155680" cy="457200"/>
          </a:xfrm>
          <a:prstGeom prst="rect">
            <a:avLst/>
          </a:prstGeom>
          <a:noFill/>
          <a:ln/>
        </p:spPr>
        <p:txBody>
          <a:bodyPr wrap="square" rtlCol="0" anchor="ctr"/>
          <a:lstStyle/>
          <a:p>
            <a:pPr marL="0" indent="0">
              <a:buNone/>
            </a:pPr>
            <a:r>
              <a:rPr lang="en-US" sz="2000" dirty="0">
                <a:solidFill>
                  <a:srgbClr val="9FB3C8"/>
                </a:solidFill>
                <a:latin typeface="Yu Gothic" pitchFamily="34" charset="0"/>
                <a:ea typeface="Yu Gothic" pitchFamily="34" charset="-122"/>
                <a:cs typeface="Yu Gothic" pitchFamily="34" charset="-120"/>
              </a:rPr>
              <a:t>概念モデル（計算式は後で導出）</a:t>
            </a:r>
            <a:endParaRPr lang="en-US" sz="2000" dirty="0"/>
          </a:p>
        </p:txBody>
      </p:sp>
      <p:sp>
        <p:nvSpPr>
          <p:cNvPr id="4" name="Shape 2"/>
          <p:cNvSpPr/>
          <p:nvPr/>
        </p:nvSpPr>
        <p:spPr>
          <a:xfrm>
            <a:off x="548640" y="3931920"/>
            <a:ext cx="5303520" cy="21945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5" name="Text 3"/>
          <p:cNvSpPr/>
          <p:nvPr/>
        </p:nvSpPr>
        <p:spPr>
          <a:xfrm>
            <a:off x="822960" y="4160520"/>
            <a:ext cx="4754880" cy="365760"/>
          </a:xfrm>
          <a:prstGeom prst="rect">
            <a:avLst/>
          </a:prstGeom>
          <a:noFill/>
          <a:ln/>
        </p:spPr>
        <p:txBody>
          <a:bodyPr wrap="square" rtlCol="0" anchor="ctr"/>
          <a:lstStyle/>
          <a:p>
            <a:pPr marL="0" indent="0">
              <a:buNone/>
            </a:pPr>
            <a:r>
              <a:rPr lang="en-US" sz="1800" b="1" dirty="0">
                <a:solidFill>
                  <a:srgbClr val="E6F1FF"/>
                </a:solidFill>
                <a:latin typeface="Yu Gothic" pitchFamily="34" charset="0"/>
                <a:ea typeface="Yu Gothic" pitchFamily="34" charset="-122"/>
                <a:cs typeface="Yu Gothic" pitchFamily="34" charset="-120"/>
              </a:rPr>
              <a:t>核となる統合概念</a:t>
            </a:r>
            <a:endParaRPr lang="en-US" sz="1800" dirty="0"/>
          </a:p>
        </p:txBody>
      </p:sp>
      <p:sp>
        <p:nvSpPr>
          <p:cNvPr id="6" name="Text 4"/>
          <p:cNvSpPr/>
          <p:nvPr/>
        </p:nvSpPr>
        <p:spPr>
          <a:xfrm>
            <a:off x="822960" y="4617720"/>
            <a:ext cx="4754880" cy="1325880"/>
          </a:xfrm>
          <a:prstGeom prst="rect">
            <a:avLst/>
          </a:prstGeom>
          <a:noFill/>
          <a:ln/>
        </p:spPr>
        <p:txBody>
          <a:bodyPr wrap="square" rtlCol="0" anchor="ctr"/>
          <a:lstStyle/>
          <a:p>
            <a:pPr marL="0" indent="0">
              <a:lnSpc>
                <a:spcPct val="120000"/>
              </a:lnSpc>
              <a:buNone/>
            </a:pPr>
            <a:r>
              <a:rPr lang="en-US" sz="1500" dirty="0">
                <a:solidFill>
                  <a:srgbClr val="E6F1FF"/>
                </a:solidFill>
                <a:latin typeface="Yu Gothic" pitchFamily="34" charset="0"/>
                <a:ea typeface="Yu Gothic" pitchFamily="34" charset="-122"/>
                <a:cs typeface="Yu Gothic" pitchFamily="34" charset="-120"/>
              </a:rPr>
              <a:t>P = 時間波の密度（刻みの細かさ）</a:t>
            </a:r>
            <a:endParaRPr lang="en-US" sz="1500" dirty="0"/>
          </a:p>
          <a:p>
            <a:pPr marL="0" indent="0">
              <a:lnSpc>
                <a:spcPct val="120000"/>
              </a:lnSpc>
              <a:buNone/>
            </a:pPr>
            <a:endParaRPr lang="en-US" sz="1500" dirty="0"/>
          </a:p>
          <a:p>
            <a:pPr marL="0" indent="0">
              <a:lnSpc>
                <a:spcPct val="120000"/>
              </a:lnSpc>
              <a:buNone/>
            </a:pPr>
            <a:r>
              <a:rPr lang="en-US" sz="1500" dirty="0">
                <a:solidFill>
                  <a:srgbClr val="E6F1FF"/>
                </a:solidFill>
                <a:latin typeface="Yu Gothic" pitchFamily="34" charset="0"/>
                <a:ea typeface="Yu Gothic" pitchFamily="34" charset="-122"/>
                <a:cs typeface="Yu Gothic" pitchFamily="34" charset="-120"/>
              </a:rPr>
              <a:t>質量 → Pを歪める（放射状に減衰）</a:t>
            </a:r>
            <a:endParaRPr lang="en-US" sz="1500" dirty="0"/>
          </a:p>
          <a:p>
            <a:pPr marL="0" indent="0">
              <a:lnSpc>
                <a:spcPct val="120000"/>
              </a:lnSpc>
              <a:buNone/>
            </a:pPr>
            <a:r>
              <a:rPr lang="en-US" sz="1500" dirty="0">
                <a:solidFill>
                  <a:srgbClr val="E6F1FF"/>
                </a:solidFill>
                <a:latin typeface="Yu Gothic" pitchFamily="34" charset="0"/>
                <a:ea typeface="Yu Gothic" pitchFamily="34" charset="-122"/>
                <a:cs typeface="Yu Gothic" pitchFamily="34" charset="-120"/>
              </a:rPr>
              <a:t>P勾配 → 安定点がずれる（重力）</a:t>
            </a:r>
            <a:endParaRPr lang="en-US" sz="1500" dirty="0"/>
          </a:p>
          <a:p>
            <a:pPr marL="0" indent="0">
              <a:lnSpc>
                <a:spcPct val="120000"/>
              </a:lnSpc>
              <a:buNone/>
            </a:pPr>
            <a:r>
              <a:rPr lang="en-US" sz="1500" dirty="0">
                <a:solidFill>
                  <a:srgbClr val="E6F1FF"/>
                </a:solidFill>
                <a:latin typeface="Yu Gothic" pitchFamily="34" charset="0"/>
                <a:ea typeface="Yu Gothic" pitchFamily="34" charset="-122"/>
                <a:cs typeface="Yu Gothic" pitchFamily="34" charset="-120"/>
              </a:rPr>
              <a:t>運動 → 有効Pが前後で非対称</a:t>
            </a:r>
            <a:endParaRPr lang="en-US" sz="1500" dirty="0"/>
          </a:p>
        </p:txBody>
      </p:sp>
      <p:sp>
        <p:nvSpPr>
          <p:cNvPr id="7" name="Shape 5"/>
          <p:cNvSpPr/>
          <p:nvPr/>
        </p:nvSpPr>
        <p:spPr>
          <a:xfrm>
            <a:off x="6126480" y="3931920"/>
            <a:ext cx="5577840" cy="2194560"/>
          </a:xfrm>
          <a:prstGeom prst="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8" name="Text 6"/>
          <p:cNvSpPr/>
          <p:nvPr/>
        </p:nvSpPr>
        <p:spPr>
          <a:xfrm>
            <a:off x="6400800" y="4160520"/>
            <a:ext cx="5120640" cy="365760"/>
          </a:xfrm>
          <a:prstGeom prst="rect">
            <a:avLst/>
          </a:prstGeom>
          <a:noFill/>
          <a:ln/>
        </p:spPr>
        <p:txBody>
          <a:bodyPr wrap="square" rtlCol="0" anchor="ctr"/>
          <a:lstStyle/>
          <a:p>
            <a:pPr marL="0" indent="0">
              <a:buNone/>
            </a:pPr>
            <a:r>
              <a:rPr lang="en-US" sz="1800" b="1" dirty="0">
                <a:solidFill>
                  <a:srgbClr val="E6F1FF"/>
                </a:solidFill>
                <a:latin typeface="Yu Gothic" pitchFamily="34" charset="0"/>
                <a:ea typeface="Yu Gothic" pitchFamily="34" charset="-122"/>
                <a:cs typeface="Yu Gothic" pitchFamily="34" charset="-120"/>
              </a:rPr>
              <a:t>このスライドの狙い</a:t>
            </a:r>
            <a:endParaRPr lang="en-US" sz="1800" dirty="0"/>
          </a:p>
        </p:txBody>
      </p:sp>
      <p:sp>
        <p:nvSpPr>
          <p:cNvPr id="9" name="Text 7"/>
          <p:cNvSpPr/>
          <p:nvPr/>
        </p:nvSpPr>
        <p:spPr>
          <a:xfrm>
            <a:off x="6400800" y="4617720"/>
            <a:ext cx="5120640" cy="1280160"/>
          </a:xfrm>
          <a:prstGeom prst="rect">
            <a:avLst/>
          </a:prstGeom>
          <a:noFill/>
          <a:ln/>
        </p:spPr>
        <p:txBody>
          <a:bodyPr wrap="square" rtlCol="0" anchor="ctr"/>
          <a:lstStyle/>
          <a:p>
            <a:pPr marL="228600" indent="-228600">
              <a:buSzPct val="100000"/>
              <a:buChar char="•"/>
            </a:pPr>
            <a:r>
              <a:rPr lang="en-US" sz="1500" dirty="0">
                <a:solidFill>
                  <a:srgbClr val="E6F1FF"/>
                </a:solidFill>
                <a:latin typeface="Yu Gothic" pitchFamily="34" charset="0"/>
                <a:ea typeface="Yu Gothic" pitchFamily="34" charset="-122"/>
                <a:cs typeface="Yu Gothic" pitchFamily="34" charset="-120"/>
              </a:rPr>
              <a:t> 既存理論の前提を使わず、</a:t>
            </a:r>
            <a:endParaRPr lang="en-US" sz="1500" dirty="0"/>
          </a:p>
          <a:p>
            <a:pPr marL="228600" indent="-228600">
              <a:buSzPct val="100000"/>
              <a:buChar char="•"/>
            </a:pPr>
            <a:r>
              <a:rPr lang="en-US" sz="1500" dirty="0">
                <a:solidFill>
                  <a:srgbClr val="E6F1FF"/>
                </a:solidFill>
                <a:latin typeface="Yu Gothic" pitchFamily="34" charset="0"/>
                <a:ea typeface="Yu Gothic" pitchFamily="34" charset="-122"/>
                <a:cs typeface="Yu Gothic" pitchFamily="34" charset="-120"/>
              </a:rPr>
              <a:t> 一貫した説明モデルとして整理</a:t>
            </a:r>
            <a:endParaRPr lang="en-US" sz="1500" dirty="0"/>
          </a:p>
          <a:p>
            <a:pPr marL="228600" indent="-228600">
              <a:buSzPct val="100000"/>
              <a:buChar char="•"/>
            </a:pPr>
            <a:r>
              <a:rPr lang="en-US" sz="1500" dirty="0">
                <a:solidFill>
                  <a:srgbClr val="E6F1FF"/>
                </a:solidFill>
                <a:latin typeface="Yu Gothic" pitchFamily="34" charset="0"/>
                <a:ea typeface="Yu Gothic" pitchFamily="34" charset="-122"/>
                <a:cs typeface="Yu Gothic" pitchFamily="34" charset="-120"/>
              </a:rPr>
              <a:t> 図で“直感の連鎖”を共有</a:t>
            </a:r>
            <a:endParaRPr lang="en-US" sz="1500" dirty="0"/>
          </a:p>
          <a:p>
            <a:pPr marL="228600" indent="-228600">
              <a:buSzPct val="100000"/>
              <a:buChar char="•"/>
            </a:pPr>
            <a:r>
              <a:rPr lang="en-US" sz="1500" dirty="0">
                <a:solidFill>
                  <a:srgbClr val="E6F1FF"/>
                </a:solidFill>
                <a:latin typeface="Yu Gothic" pitchFamily="34" charset="0"/>
                <a:ea typeface="Yu Gothic" pitchFamily="34" charset="-122"/>
                <a:cs typeface="Yu Gothic" pitchFamily="34" charset="-120"/>
              </a:rPr>
              <a:t> 数式は後で導出できる形へ</a:t>
            </a:r>
            <a:endParaRPr lang="en-US" sz="1500" dirty="0"/>
          </a:p>
        </p:txBody>
      </p:sp>
      <p:sp>
        <p:nvSpPr>
          <p:cNvPr id="10" name="Text 8"/>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Time-wave density P model — draft deck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11155680" cy="457200"/>
          </a:xfrm>
          <a:prstGeom prst="rect">
            <a:avLst/>
          </a:prstGeom>
          <a:noFill/>
          <a:ln/>
        </p:spPr>
        <p:txBody>
          <a:bodyPr wrap="square" rtlCol="0" anchor="ctr"/>
          <a:lstStyle/>
          <a:p>
            <a:pPr marL="0" indent="0">
              <a:buNone/>
            </a:pPr>
            <a:r>
              <a:rPr lang="en-US" sz="2800" b="1" dirty="0">
                <a:solidFill>
                  <a:srgbClr val="E6F1FF"/>
                </a:solidFill>
                <a:latin typeface="Yu Gothic" pitchFamily="34" charset="0"/>
                <a:ea typeface="Yu Gothic" pitchFamily="34" charset="-122"/>
                <a:cs typeface="Yu Gothic" pitchFamily="34" charset="-120"/>
              </a:rPr>
              <a:t>1) 世界観：場と波 / 光と物質</a:t>
            </a:r>
            <a:endParaRPr lang="en-US" sz="2800" dirty="0"/>
          </a:p>
        </p:txBody>
      </p:sp>
      <p:sp>
        <p:nvSpPr>
          <p:cNvPr id="3" name="Shape 1"/>
          <p:cNvSpPr/>
          <p:nvPr/>
        </p:nvSpPr>
        <p:spPr>
          <a:xfrm>
            <a:off x="548640" y="868680"/>
            <a:ext cx="11155680" cy="36576"/>
          </a:xfrm>
          <a:prstGeom prst="rect">
            <a:avLst/>
          </a:prstGeom>
          <a:solidFill>
            <a:srgbClr val="2DD4BF"/>
          </a:solidFill>
          <a:ln w="12700">
            <a:solidFill>
              <a:srgbClr val="2DD4BF"/>
            </a:solidFill>
            <a:prstDash val="solid"/>
          </a:ln>
        </p:spPr>
      </p:sp>
      <p:sp>
        <p:nvSpPr>
          <p:cNvPr id="4" name="Shape 2"/>
          <p:cNvSpPr/>
          <p:nvPr/>
        </p:nvSpPr>
        <p:spPr>
          <a:xfrm>
            <a:off x="548640" y="1097280"/>
            <a:ext cx="4754880" cy="51663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5" name="Text 3"/>
          <p:cNvSpPr/>
          <p:nvPr/>
        </p:nvSpPr>
        <p:spPr>
          <a:xfrm>
            <a:off x="822960" y="1325880"/>
            <a:ext cx="4206240" cy="365760"/>
          </a:xfrm>
          <a:prstGeom prst="rect">
            <a:avLst/>
          </a:prstGeom>
          <a:noFill/>
          <a:ln/>
        </p:spPr>
        <p:txBody>
          <a:bodyPr wrap="square" rtlCol="0" anchor="ctr"/>
          <a:lstStyle/>
          <a:p>
            <a:pPr marL="0" indent="0">
              <a:buNone/>
            </a:pPr>
            <a:r>
              <a:rPr lang="en-US" sz="1800" b="1" dirty="0">
                <a:solidFill>
                  <a:srgbClr val="E6F1FF"/>
                </a:solidFill>
                <a:latin typeface="Yu Gothic" pitchFamily="34" charset="0"/>
                <a:ea typeface="Yu Gothic" pitchFamily="34" charset="-122"/>
                <a:cs typeface="Yu Gothic" pitchFamily="34" charset="-120"/>
              </a:rPr>
              <a:t>要点</a:t>
            </a:r>
            <a:endParaRPr lang="en-US" sz="1800" dirty="0"/>
          </a:p>
        </p:txBody>
      </p:sp>
      <p:sp>
        <p:nvSpPr>
          <p:cNvPr id="6" name="Text 4"/>
          <p:cNvSpPr/>
          <p:nvPr/>
        </p:nvSpPr>
        <p:spPr>
          <a:xfrm>
            <a:off x="822960" y="1783080"/>
            <a:ext cx="4297680" cy="1274445"/>
          </a:xfrm>
          <a:prstGeom prst="rect">
            <a:avLst/>
          </a:prstGeom>
          <a:noFill/>
          <a:ln/>
        </p:spPr>
        <p:txBody>
          <a:bodyPr wrap="square" rtlCol="0" anchor="t"/>
          <a:lstStyle/>
          <a:p>
            <a:pPr marL="251460" indent="-251460">
              <a:spcAft>
                <a:spcPts val="800"/>
              </a:spcAft>
              <a:buSzPct val="100000"/>
              <a:buChar char="•"/>
            </a:pPr>
            <a:r>
              <a:rPr lang="en-US" sz="1800" dirty="0">
                <a:solidFill>
                  <a:srgbClr val="E6F1FF"/>
                </a:solidFill>
                <a:latin typeface="Yu Gothic" pitchFamily="34" charset="0"/>
                <a:ea typeface="Yu Gothic" pitchFamily="34" charset="-122"/>
                <a:cs typeface="Yu Gothic" pitchFamily="34" charset="-120"/>
              </a:rPr>
              <a:t>宇宙は「場」と「波」で構成される</a:t>
            </a:r>
            <a:endParaRPr lang="en-US" sz="1800" dirty="0"/>
          </a:p>
          <a:p>
            <a:pPr marL="251460" indent="-251460">
              <a:spcAft>
                <a:spcPts val="800"/>
              </a:spcAft>
              <a:buSzPct val="100000"/>
              <a:buChar char="•"/>
            </a:pPr>
            <a:r>
              <a:rPr lang="en-US" sz="1800" dirty="0">
                <a:solidFill>
                  <a:srgbClr val="E6F1FF"/>
                </a:solidFill>
                <a:latin typeface="Yu Gothic" pitchFamily="34" charset="0"/>
                <a:ea typeface="Yu Gothic" pitchFamily="34" charset="-122"/>
                <a:cs typeface="Yu Gothic" pitchFamily="34" charset="-120"/>
              </a:rPr>
              <a:t>光：場の中を自由に伝播する波</a:t>
            </a:r>
            <a:endParaRPr lang="en-US" sz="1800" dirty="0"/>
          </a:p>
          <a:p>
            <a:pPr marL="251460" indent="-251460">
              <a:spcAft>
                <a:spcPts val="800"/>
              </a:spcAft>
              <a:buSzPct val="100000"/>
              <a:buChar char="•"/>
            </a:pPr>
            <a:r>
              <a:rPr lang="en-US" sz="1800" dirty="0">
                <a:solidFill>
                  <a:srgbClr val="E6F1FF"/>
                </a:solidFill>
                <a:latin typeface="Yu Gothic" pitchFamily="34" charset="0"/>
                <a:ea typeface="Yu Gothic" pitchFamily="34" charset="-122"/>
                <a:cs typeface="Yu Gothic" pitchFamily="34" charset="-120"/>
              </a:rPr>
              <a:t>物質：波が閉じ込められた安定パターン</a:t>
            </a:r>
            <a:endParaRPr lang="en-US" sz="1800" dirty="0"/>
          </a:p>
        </p:txBody>
      </p:sp>
      <p:sp>
        <p:nvSpPr>
          <p:cNvPr id="7" name="Text 5"/>
          <p:cNvSpPr/>
          <p:nvPr/>
        </p:nvSpPr>
        <p:spPr>
          <a:xfrm>
            <a:off x="822960" y="5166360"/>
            <a:ext cx="4297680" cy="365760"/>
          </a:xfrm>
          <a:prstGeom prst="rect">
            <a:avLst/>
          </a:prstGeom>
          <a:noFill/>
          <a:ln/>
        </p:spPr>
        <p:txBody>
          <a:bodyPr wrap="square" rtlCol="0" anchor="ctr"/>
          <a:lstStyle/>
          <a:p>
            <a:pPr marL="0" indent="0">
              <a:buNone/>
            </a:pPr>
            <a:r>
              <a:rPr lang="en-US" sz="1400" dirty="0">
                <a:solidFill>
                  <a:srgbClr val="9FB3C8"/>
                </a:solidFill>
                <a:latin typeface="Yu Gothic" pitchFamily="34" charset="0"/>
                <a:ea typeface="Yu Gothic" pitchFamily="34" charset="-122"/>
                <a:cs typeface="Yu Gothic" pitchFamily="34" charset="-120"/>
              </a:rPr>
              <a:t>（物質は“波の塊”として自己保持する）</a:t>
            </a:r>
            <a:endParaRPr lang="en-US" sz="1400" dirty="0"/>
          </a:p>
        </p:txBody>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0" y="1097280"/>
            <a:ext cx="6217920" cy="5166360"/>
          </a:xfrm>
          <a:prstGeom prst="rect">
            <a:avLst/>
          </a:prstGeom>
        </p:spPr>
      </p:pic>
      <p:sp>
        <p:nvSpPr>
          <p:cNvPr id="9" name="Text 6"/>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光＝自由波 / 物質＝閉じ込め波（概念図）</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C18"/>
          </a:solidFill>
          <a:ln w="12700">
            <a:solidFill>
              <a:srgbClr val="070C18"/>
            </a:solidFill>
            <a:prstDash val="solid"/>
          </a:ln>
        </p:spPr>
      </p:sp>
      <p:sp>
        <p:nvSpPr>
          <p:cNvPr id="3" name="Shape 1"/>
          <p:cNvSpPr/>
          <p:nvPr/>
        </p:nvSpPr>
        <p:spPr>
          <a:xfrm>
            <a:off x="0" y="0"/>
            <a:ext cx="12191695" cy="658368"/>
          </a:xfrm>
          <a:prstGeom prst="rect">
            <a:avLst/>
          </a:prstGeom>
          <a:solidFill>
            <a:srgbClr val="050A14"/>
          </a:solidFill>
          <a:ln w="12700">
            <a:solidFill>
              <a:srgbClr val="050A14"/>
            </a:solidFill>
            <a:prstDash val="solid"/>
          </a:ln>
        </p:spPr>
      </p:sp>
      <p:sp>
        <p:nvSpPr>
          <p:cNvPr id="4" name="Shape 2"/>
          <p:cNvSpPr/>
          <p:nvPr/>
        </p:nvSpPr>
        <p:spPr>
          <a:xfrm>
            <a:off x="502920" y="658368"/>
            <a:ext cx="11185855" cy="45720"/>
          </a:xfrm>
          <a:prstGeom prst="rect">
            <a:avLst/>
          </a:prstGeom>
          <a:solidFill>
            <a:srgbClr val="19E3C5"/>
          </a:solidFill>
          <a:ln w="12700">
            <a:solidFill>
              <a:srgbClr val="19E3C5"/>
            </a:solidFill>
            <a:prstDash val="solid"/>
          </a:ln>
        </p:spPr>
      </p:sp>
      <p:sp>
        <p:nvSpPr>
          <p:cNvPr id="5" name="Text 3"/>
          <p:cNvSpPr/>
          <p:nvPr/>
        </p:nvSpPr>
        <p:spPr>
          <a:xfrm>
            <a:off x="502920" y="109728"/>
            <a:ext cx="11185855" cy="292608"/>
          </a:xfrm>
          <a:prstGeom prst="rect">
            <a:avLst/>
          </a:prstGeom>
          <a:noFill/>
          <a:ln/>
        </p:spPr>
        <p:txBody>
          <a:bodyPr wrap="square" rtlCol="0" anchor="ctr"/>
          <a:lstStyle/>
          <a:p>
            <a:pPr marL="0" indent="0">
              <a:buNone/>
            </a:pPr>
            <a:r>
              <a:rPr lang="en-US" sz="2800" b="1" dirty="0">
                <a:solidFill>
                  <a:srgbClr val="EAF2FF"/>
                </a:solidFill>
                <a:latin typeface="Yu Gothic" pitchFamily="34" charset="0"/>
                <a:ea typeface="Yu Gothic" pitchFamily="34" charset="-122"/>
                <a:cs typeface="Yu Gothic" pitchFamily="34" charset="-120"/>
              </a:rPr>
              <a:t>補足①：世界観をもう一段だけ具体化する</a:t>
            </a:r>
            <a:endParaRPr lang="en-US" sz="2800" dirty="0"/>
          </a:p>
        </p:txBody>
      </p:sp>
      <p:sp>
        <p:nvSpPr>
          <p:cNvPr id="6" name="Text 4"/>
          <p:cNvSpPr/>
          <p:nvPr/>
        </p:nvSpPr>
        <p:spPr>
          <a:xfrm>
            <a:off x="502920" y="420624"/>
            <a:ext cx="11185855" cy="219456"/>
          </a:xfrm>
          <a:prstGeom prst="rect">
            <a:avLst/>
          </a:prstGeom>
          <a:noFill/>
          <a:ln/>
        </p:spPr>
        <p:txBody>
          <a:bodyPr wrap="square" rtlCol="0" anchor="ctr"/>
          <a:lstStyle/>
          <a:p>
            <a:pPr marL="0" indent="0">
              <a:buNone/>
            </a:pPr>
            <a:r>
              <a:rPr lang="en-US" sz="1400" dirty="0">
                <a:solidFill>
                  <a:srgbClr val="A9B7D0"/>
                </a:solidFill>
                <a:latin typeface="Yu Gothic" pitchFamily="34" charset="0"/>
                <a:ea typeface="Yu Gothic" pitchFamily="34" charset="-122"/>
                <a:cs typeface="Yu Gothic" pitchFamily="34" charset="-120"/>
              </a:rPr>
              <a:t>「場」と「波」だけで説明を閉じるための約束事</a:t>
            </a:r>
            <a:endParaRPr lang="en-US" sz="1400" dirty="0"/>
          </a:p>
        </p:txBody>
      </p:sp>
      <p:sp>
        <p:nvSpPr>
          <p:cNvPr id="7" name="Shape 5"/>
          <p:cNvSpPr/>
          <p:nvPr/>
        </p:nvSpPr>
        <p:spPr>
          <a:xfrm>
            <a:off x="685800" y="1143000"/>
            <a:ext cx="544068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8" name="Text 6"/>
          <p:cNvSpPr/>
          <p:nvPr/>
        </p:nvSpPr>
        <p:spPr>
          <a:xfrm>
            <a:off x="960120" y="1344168"/>
            <a:ext cx="489204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ここでの前提（私の言い方）</a:t>
            </a:r>
            <a:endParaRPr lang="en-US" sz="1600" dirty="0"/>
          </a:p>
        </p:txBody>
      </p:sp>
      <p:sp>
        <p:nvSpPr>
          <p:cNvPr id="9" name="Text 7"/>
          <p:cNvSpPr/>
          <p:nvPr/>
        </p:nvSpPr>
        <p:spPr>
          <a:xfrm>
            <a:off x="1005840" y="1691640"/>
            <a:ext cx="480060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・宇宙は「場」と、その場に現れる「波（振動）」でできている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・粒子とは“点”ではなく、場の中にできた「安定パターン（閉じ込め波）」</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・光＝自由に伝播する波（自由波モード）</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・物質＝閉じ込められて自己保持する波（束縛モード）</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・「吸収して欠乏ができる」ではなく、場の“性質”が変わると考える</a:t>
            </a:r>
            <a:endParaRPr lang="en-US" sz="1400" dirty="0"/>
          </a:p>
        </p:txBody>
      </p:sp>
      <p:sp>
        <p:nvSpPr>
          <p:cNvPr id="10" name="Shape 8"/>
          <p:cNvSpPr/>
          <p:nvPr/>
        </p:nvSpPr>
        <p:spPr>
          <a:xfrm>
            <a:off x="6446520" y="1143000"/>
            <a:ext cx="507492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11" name="Text 9"/>
          <p:cNvSpPr/>
          <p:nvPr/>
        </p:nvSpPr>
        <p:spPr>
          <a:xfrm>
            <a:off x="6720840" y="1344168"/>
            <a:ext cx="452628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以降の統一ルール</a:t>
            </a:r>
            <a:endParaRPr lang="en-US" sz="1600" dirty="0"/>
          </a:p>
        </p:txBody>
      </p:sp>
      <p:sp>
        <p:nvSpPr>
          <p:cNvPr id="12" name="Text 10"/>
          <p:cNvSpPr/>
          <p:nvPr/>
        </p:nvSpPr>
        <p:spPr>
          <a:xfrm>
            <a:off x="6766560" y="1691640"/>
            <a:ext cx="443484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・質量がある→空間の性質が変わる（時間波密度Pが歪む）</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・Pに分布（勾配）ができる→安定点がずれる→それが重力として見える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・光も物体も「波」なので、同じP分布の影響を受ける（説明が一本化できる）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・細かい関数形（1/r か exp か等）は後で決めればよい</a:t>
            </a:r>
            <a:endParaRPr lang="en-US" sz="1400" dirty="0"/>
          </a:p>
        </p:txBody>
      </p:sp>
      <p:sp>
        <p:nvSpPr>
          <p:cNvPr id="13" name="Text 11"/>
          <p:cNvSpPr/>
          <p:nvPr/>
        </p:nvSpPr>
        <p:spPr>
          <a:xfrm>
            <a:off x="502920" y="6537960"/>
            <a:ext cx="11185855" cy="228600"/>
          </a:xfrm>
          <a:prstGeom prst="rect">
            <a:avLst/>
          </a:prstGeom>
          <a:noFill/>
          <a:ln/>
        </p:spPr>
        <p:txBody>
          <a:bodyPr wrap="square" rtlCol="0" anchor="ctr"/>
          <a:lstStyle/>
          <a:p>
            <a:pPr marL="0" indent="0">
              <a:buNone/>
            </a:pPr>
            <a:r>
              <a:rPr lang="en-US" sz="1000" dirty="0">
                <a:solidFill>
                  <a:srgbClr val="6F7E9B"/>
                </a:solidFill>
                <a:latin typeface="Yu Gothic" pitchFamily="34" charset="0"/>
                <a:ea typeface="Yu Gothic" pitchFamily="34" charset="-122"/>
                <a:cs typeface="Yu Gothic" pitchFamily="34" charset="-120"/>
              </a:rPr>
              <a:t>Time-wave density P model / supplement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11155680" cy="457200"/>
          </a:xfrm>
          <a:prstGeom prst="rect">
            <a:avLst/>
          </a:prstGeom>
          <a:noFill/>
          <a:ln/>
        </p:spPr>
        <p:txBody>
          <a:bodyPr wrap="square" rtlCol="0" anchor="ctr"/>
          <a:lstStyle/>
          <a:p>
            <a:pPr marL="0" indent="0">
              <a:buNone/>
            </a:pPr>
            <a:r>
              <a:rPr lang="en-US" sz="2800" b="1" dirty="0">
                <a:solidFill>
                  <a:srgbClr val="E6F1FF"/>
                </a:solidFill>
                <a:latin typeface="Yu Gothic" pitchFamily="34" charset="0"/>
                <a:ea typeface="Yu Gothic" pitchFamily="34" charset="-122"/>
                <a:cs typeface="Yu Gothic" pitchFamily="34" charset="-120"/>
              </a:rPr>
              <a:t>2) 時間波と時間密度P（統合定義）</a:t>
            </a:r>
            <a:endParaRPr lang="en-US" sz="2800" dirty="0"/>
          </a:p>
        </p:txBody>
      </p:sp>
      <p:sp>
        <p:nvSpPr>
          <p:cNvPr id="3" name="Shape 1"/>
          <p:cNvSpPr/>
          <p:nvPr/>
        </p:nvSpPr>
        <p:spPr>
          <a:xfrm>
            <a:off x="548640" y="868680"/>
            <a:ext cx="11155680" cy="36576"/>
          </a:xfrm>
          <a:prstGeom prst="rect">
            <a:avLst/>
          </a:prstGeom>
          <a:solidFill>
            <a:srgbClr val="2DD4BF"/>
          </a:solidFill>
          <a:ln w="12700">
            <a:solidFill>
              <a:srgbClr val="2DD4BF"/>
            </a:solidFill>
            <a:prstDash val="solid"/>
          </a:ln>
        </p:spPr>
      </p:sp>
      <p:sp>
        <p:nvSpPr>
          <p:cNvPr id="4" name="Shape 2"/>
          <p:cNvSpPr/>
          <p:nvPr/>
        </p:nvSpPr>
        <p:spPr>
          <a:xfrm>
            <a:off x="548640" y="1097280"/>
            <a:ext cx="5669280" cy="51663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5" name="Text 3"/>
          <p:cNvSpPr/>
          <p:nvPr/>
        </p:nvSpPr>
        <p:spPr>
          <a:xfrm>
            <a:off x="822960" y="1325880"/>
            <a:ext cx="5120640" cy="365760"/>
          </a:xfrm>
          <a:prstGeom prst="rect">
            <a:avLst/>
          </a:prstGeom>
          <a:noFill/>
          <a:ln/>
        </p:spPr>
        <p:txBody>
          <a:bodyPr wrap="square" rtlCol="0" anchor="ctr"/>
          <a:lstStyle/>
          <a:p>
            <a:pPr marL="0" indent="0">
              <a:buNone/>
            </a:pPr>
            <a:r>
              <a:rPr lang="en-US" sz="1800" b="1" dirty="0">
                <a:solidFill>
                  <a:srgbClr val="E6F1FF"/>
                </a:solidFill>
                <a:latin typeface="Yu Gothic" pitchFamily="34" charset="0"/>
                <a:ea typeface="Yu Gothic" pitchFamily="34" charset="-122"/>
                <a:cs typeface="Yu Gothic" pitchFamily="34" charset="-120"/>
              </a:rPr>
              <a:t>統合定義</a:t>
            </a:r>
            <a:endParaRPr lang="en-US" sz="1800" dirty="0"/>
          </a:p>
        </p:txBody>
      </p:sp>
      <p:sp>
        <p:nvSpPr>
          <p:cNvPr id="6" name="Text 4"/>
          <p:cNvSpPr/>
          <p:nvPr/>
        </p:nvSpPr>
        <p:spPr>
          <a:xfrm>
            <a:off x="868680" y="1783080"/>
            <a:ext cx="5257800" cy="2011680"/>
          </a:xfrm>
          <a:prstGeom prst="rect">
            <a:avLst/>
          </a:prstGeom>
          <a:noFill/>
          <a:ln/>
        </p:spPr>
        <p:txBody>
          <a:bodyPr wrap="square" rtlCol="0" anchor="ctr"/>
          <a:lstStyle/>
          <a:p>
            <a:pPr marL="254000" indent="-254000">
              <a:lnSpc>
                <a:spcPct val="120000"/>
              </a:lnSpc>
              <a:buSzPct val="100000"/>
              <a:buChar char="•"/>
            </a:pPr>
            <a:r>
              <a:rPr lang="en-US" sz="1800" dirty="0">
                <a:solidFill>
                  <a:srgbClr val="E6F1FF"/>
                </a:solidFill>
                <a:latin typeface="Yu Gothic" pitchFamily="34" charset="0"/>
                <a:ea typeface="Yu Gothic" pitchFamily="34" charset="-122"/>
                <a:cs typeface="Yu Gothic" pitchFamily="34" charset="-120"/>
              </a:rPr>
              <a:t> 空間には常に「時間波」が満ちている</a:t>
            </a:r>
            <a:endParaRPr lang="en-US" sz="1800" dirty="0"/>
          </a:p>
          <a:p>
            <a:pPr marL="254000" indent="-254000">
              <a:lnSpc>
                <a:spcPct val="120000"/>
              </a:lnSpc>
              <a:buSzPct val="100000"/>
              <a:buChar char="•"/>
            </a:pPr>
            <a:r>
              <a:rPr lang="en-US" sz="1800" dirty="0">
                <a:solidFill>
                  <a:srgbClr val="E6F1FF"/>
                </a:solidFill>
                <a:latin typeface="Yu Gothic" pitchFamily="34" charset="0"/>
                <a:ea typeface="Yu Gothic" pitchFamily="34" charset="-122"/>
                <a:cs typeface="Yu Gothic" pitchFamily="34" charset="-120"/>
              </a:rPr>
              <a:t> P = 時間波の密度（刻みの細かさ）</a:t>
            </a:r>
            <a:endParaRPr lang="en-US" sz="1800" dirty="0"/>
          </a:p>
          <a:p>
            <a:pPr marL="254000" indent="-254000">
              <a:lnSpc>
                <a:spcPct val="120000"/>
              </a:lnSpc>
              <a:buSzPct val="100000"/>
              <a:buChar char="•"/>
            </a:pPr>
            <a:r>
              <a:rPr lang="en-US" sz="1800" dirty="0">
                <a:solidFill>
                  <a:srgbClr val="E6F1FF"/>
                </a:solidFill>
                <a:latin typeface="Yu Gothic" pitchFamily="34" charset="0"/>
                <a:ea typeface="Yu Gothic" pitchFamily="34" charset="-122"/>
                <a:cs typeface="Yu Gothic" pitchFamily="34" charset="-120"/>
              </a:rPr>
              <a:t> Pは空間にあるスカラー（場所ごとの値）</a:t>
            </a:r>
            <a:endParaRPr lang="en-US" sz="1800" dirty="0"/>
          </a:p>
          <a:p>
            <a:pPr marL="254000" indent="-254000">
              <a:lnSpc>
                <a:spcPct val="120000"/>
              </a:lnSpc>
              <a:buSzPct val="100000"/>
              <a:buChar char="•"/>
            </a:pPr>
            <a:r>
              <a:rPr lang="en-US" sz="1800">
                <a:solidFill>
                  <a:srgbClr val="E6F1FF"/>
                </a:solidFill>
                <a:latin typeface="Yu Gothic" pitchFamily="34" charset="0"/>
                <a:ea typeface="Yu Gothic" pitchFamily="34" charset="-122"/>
                <a:cs typeface="Yu Gothic" pitchFamily="34" charset="-120"/>
              </a:rPr>
              <a:t> </a:t>
            </a:r>
            <a:r>
              <a:rPr lang="en-US" sz="1800" dirty="0">
                <a:solidFill>
                  <a:srgbClr val="E6F1FF"/>
                </a:solidFill>
                <a:latin typeface="Yu Gothic" pitchFamily="34" charset="0"/>
                <a:ea typeface="Yu Gothic" pitchFamily="34" charset="-122"/>
                <a:cs typeface="Yu Gothic" pitchFamily="34" charset="-120"/>
              </a:rPr>
              <a:t>物体の“時計”は内部波の周期現象</a:t>
            </a:r>
            <a:endParaRPr lang="en-US" sz="1800" dirty="0"/>
          </a:p>
        </p:txBody>
      </p:sp>
      <p:sp>
        <p:nvSpPr>
          <p:cNvPr id="7" name="Shape 5"/>
          <p:cNvSpPr/>
          <p:nvPr/>
        </p:nvSpPr>
        <p:spPr>
          <a:xfrm>
            <a:off x="868680" y="4023360"/>
            <a:ext cx="5212080" cy="2057400"/>
          </a:xfrm>
          <a:prstGeom prst="roundRect">
            <a:avLst/>
          </a:prstGeom>
          <a:solidFill>
            <a:srgbClr val="0B1020"/>
          </a:solidFill>
          <a:ln w="12700">
            <a:solidFill>
              <a:srgbClr val="223055">
                <a:alpha val="80000"/>
              </a:srgbClr>
            </a:solidFill>
            <a:prstDash val="solid"/>
          </a:ln>
        </p:spPr>
      </p:sp>
      <p:sp>
        <p:nvSpPr>
          <p:cNvPr id="8" name="Text 6"/>
          <p:cNvSpPr/>
          <p:nvPr/>
        </p:nvSpPr>
        <p:spPr>
          <a:xfrm>
            <a:off x="1097280" y="4206240"/>
            <a:ext cx="4754880" cy="274320"/>
          </a:xfrm>
          <a:prstGeom prst="rect">
            <a:avLst/>
          </a:prstGeom>
          <a:noFill/>
          <a:ln/>
        </p:spPr>
        <p:txBody>
          <a:bodyPr wrap="square" rtlCol="0" anchor="ctr"/>
          <a:lstStyle/>
          <a:p>
            <a:pPr marL="0" indent="0">
              <a:buNone/>
            </a:pPr>
            <a:r>
              <a:rPr lang="en-US" sz="1400" dirty="0">
                <a:solidFill>
                  <a:srgbClr val="9FB3C8"/>
                </a:solidFill>
                <a:latin typeface="Yu Gothic" pitchFamily="34" charset="0"/>
                <a:ea typeface="Yu Gothic" pitchFamily="34" charset="-122"/>
                <a:cs typeface="Yu Gothic" pitchFamily="34" charset="-120"/>
              </a:rPr>
              <a:t>このモデルの合言葉</a:t>
            </a:r>
            <a:endParaRPr lang="en-US" sz="1400" dirty="0"/>
          </a:p>
        </p:txBody>
      </p:sp>
      <p:sp>
        <p:nvSpPr>
          <p:cNvPr id="9" name="Text 7"/>
          <p:cNvSpPr/>
          <p:nvPr/>
        </p:nvSpPr>
        <p:spPr>
          <a:xfrm>
            <a:off x="1097280" y="4480560"/>
            <a:ext cx="4754880" cy="1463040"/>
          </a:xfrm>
          <a:prstGeom prst="rect">
            <a:avLst/>
          </a:prstGeom>
          <a:noFill/>
          <a:ln/>
        </p:spPr>
        <p:txBody>
          <a:bodyPr wrap="square" rtlCol="0" anchor="ctr"/>
          <a:lstStyle/>
          <a:p>
            <a:pPr marL="0" indent="0">
              <a:buNone/>
            </a:pPr>
            <a:r>
              <a:rPr lang="en-US" sz="2000" b="1" dirty="0">
                <a:solidFill>
                  <a:srgbClr val="E6F1FF"/>
                </a:solidFill>
                <a:latin typeface="Yu Gothic" pitchFamily="34" charset="0"/>
                <a:ea typeface="Yu Gothic" pitchFamily="34" charset="-122"/>
                <a:cs typeface="Yu Gothic" pitchFamily="34" charset="-120"/>
              </a:rPr>
              <a:t>「時間は背景ではなく、</a:t>
            </a:r>
            <a:endParaRPr lang="en-US" sz="2000" dirty="0"/>
          </a:p>
          <a:p>
            <a:pPr marL="0" indent="0">
              <a:buNone/>
            </a:pPr>
            <a:r>
              <a:rPr lang="en-US" sz="2000" b="1" dirty="0">
                <a:solidFill>
                  <a:srgbClr val="E6F1FF"/>
                </a:solidFill>
                <a:latin typeface="Yu Gothic" pitchFamily="34" charset="0"/>
                <a:ea typeface="Yu Gothic" pitchFamily="34" charset="-122"/>
                <a:cs typeface="Yu Gothic" pitchFamily="34" charset="-120"/>
              </a:rPr>
              <a:t>  時間波の“刻み”として現れる」</a:t>
            </a:r>
            <a:endParaRPr lang="en-US" sz="2000" dirty="0"/>
          </a:p>
        </p:txBody>
      </p:sp>
      <p:sp>
        <p:nvSpPr>
          <p:cNvPr id="10" name="Shape 8"/>
          <p:cNvSpPr/>
          <p:nvPr/>
        </p:nvSpPr>
        <p:spPr>
          <a:xfrm>
            <a:off x="6400800" y="1097280"/>
            <a:ext cx="5303520" cy="51663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11" name="Text 9"/>
          <p:cNvSpPr/>
          <p:nvPr/>
        </p:nvSpPr>
        <p:spPr>
          <a:xfrm>
            <a:off x="6675120" y="1325880"/>
            <a:ext cx="4754880" cy="320040"/>
          </a:xfrm>
          <a:prstGeom prst="rect">
            <a:avLst/>
          </a:prstGeom>
          <a:noFill/>
          <a:ln/>
        </p:spPr>
        <p:txBody>
          <a:bodyPr wrap="square" rtlCol="0" anchor="ctr"/>
          <a:lstStyle/>
          <a:p>
            <a:pPr marL="0" indent="0">
              <a:buNone/>
            </a:pPr>
            <a:r>
              <a:rPr lang="en-US" sz="1800" b="1" dirty="0">
                <a:solidFill>
                  <a:srgbClr val="E6F1FF"/>
                </a:solidFill>
                <a:latin typeface="Yu Gothic" pitchFamily="34" charset="0"/>
                <a:ea typeface="Yu Gothic" pitchFamily="34" charset="-122"/>
                <a:cs typeface="Yu Gothic" pitchFamily="34" charset="-120"/>
              </a:rPr>
              <a:t>Pのイメージ</a:t>
            </a:r>
            <a:endParaRPr lang="en-US" sz="1800" dirty="0"/>
          </a:p>
        </p:txBody>
      </p:sp>
      <p:sp>
        <p:nvSpPr>
          <p:cNvPr id="12" name="Shape 10"/>
          <p:cNvSpPr/>
          <p:nvPr/>
        </p:nvSpPr>
        <p:spPr>
          <a:xfrm>
            <a:off x="6766560" y="1920240"/>
            <a:ext cx="0" cy="3474720"/>
          </a:xfrm>
          <a:prstGeom prst="line">
            <a:avLst/>
          </a:prstGeom>
          <a:noFill/>
          <a:ln w="25400">
            <a:solidFill>
              <a:srgbClr val="2DD4BF">
                <a:alpha val="35000"/>
              </a:srgbClr>
            </a:solidFill>
            <a:prstDash val="solid"/>
          </a:ln>
        </p:spPr>
      </p:sp>
      <p:sp>
        <p:nvSpPr>
          <p:cNvPr id="13" name="Shape 11"/>
          <p:cNvSpPr/>
          <p:nvPr/>
        </p:nvSpPr>
        <p:spPr>
          <a:xfrm>
            <a:off x="7022592" y="1920240"/>
            <a:ext cx="0" cy="3474720"/>
          </a:xfrm>
          <a:prstGeom prst="line">
            <a:avLst/>
          </a:prstGeom>
          <a:noFill/>
          <a:ln w="25400">
            <a:solidFill>
              <a:srgbClr val="2DD4BF">
                <a:alpha val="35000"/>
              </a:srgbClr>
            </a:solidFill>
            <a:prstDash val="solid"/>
          </a:ln>
        </p:spPr>
      </p:sp>
      <p:sp>
        <p:nvSpPr>
          <p:cNvPr id="14" name="Shape 12"/>
          <p:cNvSpPr/>
          <p:nvPr/>
        </p:nvSpPr>
        <p:spPr>
          <a:xfrm>
            <a:off x="7278624" y="1920240"/>
            <a:ext cx="0" cy="3474720"/>
          </a:xfrm>
          <a:prstGeom prst="line">
            <a:avLst/>
          </a:prstGeom>
          <a:noFill/>
          <a:ln w="25400">
            <a:solidFill>
              <a:srgbClr val="2DD4BF">
                <a:alpha val="35000"/>
              </a:srgbClr>
            </a:solidFill>
            <a:prstDash val="solid"/>
          </a:ln>
        </p:spPr>
      </p:sp>
      <p:sp>
        <p:nvSpPr>
          <p:cNvPr id="15" name="Shape 13"/>
          <p:cNvSpPr/>
          <p:nvPr/>
        </p:nvSpPr>
        <p:spPr>
          <a:xfrm>
            <a:off x="7534656" y="1920240"/>
            <a:ext cx="0" cy="3474720"/>
          </a:xfrm>
          <a:prstGeom prst="line">
            <a:avLst/>
          </a:prstGeom>
          <a:noFill/>
          <a:ln w="25400">
            <a:solidFill>
              <a:srgbClr val="2DD4BF">
                <a:alpha val="35000"/>
              </a:srgbClr>
            </a:solidFill>
            <a:prstDash val="solid"/>
          </a:ln>
        </p:spPr>
      </p:sp>
      <p:sp>
        <p:nvSpPr>
          <p:cNvPr id="16" name="Shape 14"/>
          <p:cNvSpPr/>
          <p:nvPr/>
        </p:nvSpPr>
        <p:spPr>
          <a:xfrm>
            <a:off x="7790688" y="1920240"/>
            <a:ext cx="0" cy="3474720"/>
          </a:xfrm>
          <a:prstGeom prst="line">
            <a:avLst/>
          </a:prstGeom>
          <a:noFill/>
          <a:ln w="25400">
            <a:solidFill>
              <a:srgbClr val="2DD4BF">
                <a:alpha val="35000"/>
              </a:srgbClr>
            </a:solidFill>
            <a:prstDash val="solid"/>
          </a:ln>
        </p:spPr>
      </p:sp>
      <p:sp>
        <p:nvSpPr>
          <p:cNvPr id="17" name="Shape 15"/>
          <p:cNvSpPr/>
          <p:nvPr/>
        </p:nvSpPr>
        <p:spPr>
          <a:xfrm>
            <a:off x="8046720" y="1920240"/>
            <a:ext cx="0" cy="3474720"/>
          </a:xfrm>
          <a:prstGeom prst="line">
            <a:avLst/>
          </a:prstGeom>
          <a:noFill/>
          <a:ln w="25400">
            <a:solidFill>
              <a:srgbClr val="2DD4BF">
                <a:alpha val="35000"/>
              </a:srgbClr>
            </a:solidFill>
            <a:prstDash val="solid"/>
          </a:ln>
        </p:spPr>
      </p:sp>
      <p:sp>
        <p:nvSpPr>
          <p:cNvPr id="18" name="Shape 16"/>
          <p:cNvSpPr/>
          <p:nvPr/>
        </p:nvSpPr>
        <p:spPr>
          <a:xfrm>
            <a:off x="8302752" y="1920240"/>
            <a:ext cx="0" cy="3474720"/>
          </a:xfrm>
          <a:prstGeom prst="line">
            <a:avLst/>
          </a:prstGeom>
          <a:noFill/>
          <a:ln w="25400">
            <a:solidFill>
              <a:srgbClr val="2DD4BF">
                <a:alpha val="35000"/>
              </a:srgbClr>
            </a:solidFill>
            <a:prstDash val="solid"/>
          </a:ln>
        </p:spPr>
      </p:sp>
      <p:sp>
        <p:nvSpPr>
          <p:cNvPr id="19" name="Shape 17"/>
          <p:cNvSpPr/>
          <p:nvPr/>
        </p:nvSpPr>
        <p:spPr>
          <a:xfrm>
            <a:off x="8558784" y="1920240"/>
            <a:ext cx="0" cy="3474720"/>
          </a:xfrm>
          <a:prstGeom prst="line">
            <a:avLst/>
          </a:prstGeom>
          <a:noFill/>
          <a:ln w="25400">
            <a:solidFill>
              <a:srgbClr val="2DD4BF">
                <a:alpha val="35000"/>
              </a:srgbClr>
            </a:solidFill>
            <a:prstDash val="solid"/>
          </a:ln>
        </p:spPr>
      </p:sp>
      <p:sp>
        <p:nvSpPr>
          <p:cNvPr id="20" name="Shape 18"/>
          <p:cNvSpPr/>
          <p:nvPr/>
        </p:nvSpPr>
        <p:spPr>
          <a:xfrm>
            <a:off x="8814816" y="1920240"/>
            <a:ext cx="0" cy="3474720"/>
          </a:xfrm>
          <a:prstGeom prst="line">
            <a:avLst/>
          </a:prstGeom>
          <a:noFill/>
          <a:ln w="25400">
            <a:solidFill>
              <a:srgbClr val="2DD4BF">
                <a:alpha val="35000"/>
              </a:srgbClr>
            </a:solidFill>
            <a:prstDash val="solid"/>
          </a:ln>
        </p:spPr>
      </p:sp>
      <p:sp>
        <p:nvSpPr>
          <p:cNvPr id="21" name="Shape 19"/>
          <p:cNvSpPr/>
          <p:nvPr/>
        </p:nvSpPr>
        <p:spPr>
          <a:xfrm>
            <a:off x="9070848" y="1920240"/>
            <a:ext cx="0" cy="3474720"/>
          </a:xfrm>
          <a:prstGeom prst="line">
            <a:avLst/>
          </a:prstGeom>
          <a:noFill/>
          <a:ln w="25400">
            <a:solidFill>
              <a:srgbClr val="2DD4BF">
                <a:alpha val="35000"/>
              </a:srgbClr>
            </a:solidFill>
            <a:prstDash val="solid"/>
          </a:ln>
        </p:spPr>
      </p:sp>
      <p:sp>
        <p:nvSpPr>
          <p:cNvPr id="22" name="Shape 20"/>
          <p:cNvSpPr/>
          <p:nvPr/>
        </p:nvSpPr>
        <p:spPr>
          <a:xfrm>
            <a:off x="9326880" y="1920240"/>
            <a:ext cx="0" cy="3474720"/>
          </a:xfrm>
          <a:prstGeom prst="line">
            <a:avLst/>
          </a:prstGeom>
          <a:noFill/>
          <a:ln w="25400">
            <a:solidFill>
              <a:srgbClr val="2DD4BF">
                <a:alpha val="35000"/>
              </a:srgbClr>
            </a:solidFill>
            <a:prstDash val="solid"/>
          </a:ln>
        </p:spPr>
      </p:sp>
      <p:sp>
        <p:nvSpPr>
          <p:cNvPr id="23" name="Shape 21"/>
          <p:cNvSpPr/>
          <p:nvPr/>
        </p:nvSpPr>
        <p:spPr>
          <a:xfrm>
            <a:off x="9582912" y="1920240"/>
            <a:ext cx="0" cy="3474720"/>
          </a:xfrm>
          <a:prstGeom prst="line">
            <a:avLst/>
          </a:prstGeom>
          <a:noFill/>
          <a:ln w="25400">
            <a:solidFill>
              <a:srgbClr val="2DD4BF">
                <a:alpha val="80000"/>
              </a:srgbClr>
            </a:solidFill>
            <a:prstDash val="solid"/>
          </a:ln>
        </p:spPr>
      </p:sp>
      <p:sp>
        <p:nvSpPr>
          <p:cNvPr id="24" name="Shape 22"/>
          <p:cNvSpPr/>
          <p:nvPr/>
        </p:nvSpPr>
        <p:spPr>
          <a:xfrm>
            <a:off x="9838944" y="1920240"/>
            <a:ext cx="0" cy="3474720"/>
          </a:xfrm>
          <a:prstGeom prst="line">
            <a:avLst/>
          </a:prstGeom>
          <a:noFill/>
          <a:ln w="25400">
            <a:solidFill>
              <a:srgbClr val="2DD4BF">
                <a:alpha val="80000"/>
              </a:srgbClr>
            </a:solidFill>
            <a:prstDash val="solid"/>
          </a:ln>
        </p:spPr>
      </p:sp>
      <p:sp>
        <p:nvSpPr>
          <p:cNvPr id="25" name="Shape 23"/>
          <p:cNvSpPr/>
          <p:nvPr/>
        </p:nvSpPr>
        <p:spPr>
          <a:xfrm>
            <a:off x="10094976" y="1920240"/>
            <a:ext cx="0" cy="3474720"/>
          </a:xfrm>
          <a:prstGeom prst="line">
            <a:avLst/>
          </a:prstGeom>
          <a:noFill/>
          <a:ln w="25400">
            <a:solidFill>
              <a:srgbClr val="2DD4BF">
                <a:alpha val="80000"/>
              </a:srgbClr>
            </a:solidFill>
            <a:prstDash val="solid"/>
          </a:ln>
        </p:spPr>
      </p:sp>
      <p:sp>
        <p:nvSpPr>
          <p:cNvPr id="26" name="Shape 24"/>
          <p:cNvSpPr/>
          <p:nvPr/>
        </p:nvSpPr>
        <p:spPr>
          <a:xfrm>
            <a:off x="10351008" y="1920240"/>
            <a:ext cx="0" cy="3474720"/>
          </a:xfrm>
          <a:prstGeom prst="line">
            <a:avLst/>
          </a:prstGeom>
          <a:noFill/>
          <a:ln w="25400">
            <a:solidFill>
              <a:srgbClr val="2DD4BF">
                <a:alpha val="80000"/>
              </a:srgbClr>
            </a:solidFill>
            <a:prstDash val="solid"/>
          </a:ln>
        </p:spPr>
      </p:sp>
      <p:sp>
        <p:nvSpPr>
          <p:cNvPr id="27" name="Shape 25"/>
          <p:cNvSpPr/>
          <p:nvPr/>
        </p:nvSpPr>
        <p:spPr>
          <a:xfrm>
            <a:off x="10607040" y="1920240"/>
            <a:ext cx="0" cy="3474720"/>
          </a:xfrm>
          <a:prstGeom prst="line">
            <a:avLst/>
          </a:prstGeom>
          <a:noFill/>
          <a:ln w="25400">
            <a:solidFill>
              <a:srgbClr val="2DD4BF">
                <a:alpha val="80000"/>
              </a:srgbClr>
            </a:solidFill>
            <a:prstDash val="solid"/>
          </a:ln>
        </p:spPr>
      </p:sp>
      <p:sp>
        <p:nvSpPr>
          <p:cNvPr id="28" name="Shape 26"/>
          <p:cNvSpPr/>
          <p:nvPr/>
        </p:nvSpPr>
        <p:spPr>
          <a:xfrm>
            <a:off x="10863072" y="1920240"/>
            <a:ext cx="0" cy="3474720"/>
          </a:xfrm>
          <a:prstGeom prst="line">
            <a:avLst/>
          </a:prstGeom>
          <a:noFill/>
          <a:ln w="25400">
            <a:solidFill>
              <a:srgbClr val="2DD4BF">
                <a:alpha val="80000"/>
              </a:srgbClr>
            </a:solidFill>
            <a:prstDash val="solid"/>
          </a:ln>
        </p:spPr>
      </p:sp>
      <p:sp>
        <p:nvSpPr>
          <p:cNvPr id="29" name="Shape 27"/>
          <p:cNvSpPr/>
          <p:nvPr/>
        </p:nvSpPr>
        <p:spPr>
          <a:xfrm>
            <a:off x="11119104" y="1920240"/>
            <a:ext cx="0" cy="3474720"/>
          </a:xfrm>
          <a:prstGeom prst="line">
            <a:avLst/>
          </a:prstGeom>
          <a:noFill/>
          <a:ln w="25400">
            <a:solidFill>
              <a:srgbClr val="2DD4BF">
                <a:alpha val="80000"/>
              </a:srgbClr>
            </a:solidFill>
            <a:prstDash val="solid"/>
          </a:ln>
        </p:spPr>
      </p:sp>
      <p:sp>
        <p:nvSpPr>
          <p:cNvPr id="30" name="Text 28"/>
          <p:cNvSpPr/>
          <p:nvPr/>
        </p:nvSpPr>
        <p:spPr>
          <a:xfrm>
            <a:off x="6720840" y="5532120"/>
            <a:ext cx="4846320" cy="640080"/>
          </a:xfrm>
          <a:prstGeom prst="rect">
            <a:avLst/>
          </a:prstGeom>
          <a:noFill/>
          <a:ln/>
        </p:spPr>
        <p:txBody>
          <a:bodyPr wrap="square" rtlCol="0" anchor="ctr"/>
          <a:lstStyle/>
          <a:p>
            <a:pPr marL="0" indent="0">
              <a:buNone/>
            </a:pPr>
            <a:r>
              <a:rPr lang="en-US" sz="1600" dirty="0">
                <a:solidFill>
                  <a:srgbClr val="9FB3C8"/>
                </a:solidFill>
                <a:latin typeface="Yu Gothic" pitchFamily="34" charset="0"/>
                <a:ea typeface="Yu Gothic" pitchFamily="34" charset="-122"/>
                <a:cs typeface="Yu Gothic" pitchFamily="34" charset="-120"/>
              </a:rPr>
              <a:t>波面が詰まるほど</a:t>
            </a:r>
            <a:endParaRPr lang="en-US" sz="1600" dirty="0"/>
          </a:p>
          <a:p>
            <a:pPr marL="0" indent="0">
              <a:buNone/>
            </a:pPr>
            <a:r>
              <a:rPr lang="en-US" sz="1600" dirty="0">
                <a:solidFill>
                  <a:srgbClr val="9FB3C8"/>
                </a:solidFill>
                <a:latin typeface="Yu Gothic" pitchFamily="34" charset="0"/>
                <a:ea typeface="Yu Gothic" pitchFamily="34" charset="-122"/>
                <a:cs typeface="Yu Gothic" pitchFamily="34" charset="-120"/>
              </a:rPr>
              <a:t>P（刻み）が大きい</a:t>
            </a:r>
            <a:endParaRPr lang="en-US" sz="1600" dirty="0"/>
          </a:p>
        </p:txBody>
      </p:sp>
      <p:sp>
        <p:nvSpPr>
          <p:cNvPr id="31" name="Text 29"/>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P＝時間波密度（統合）</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C18"/>
          </a:solidFill>
          <a:ln w="12700">
            <a:solidFill>
              <a:srgbClr val="070C18"/>
            </a:solidFill>
            <a:prstDash val="solid"/>
          </a:ln>
        </p:spPr>
      </p:sp>
      <p:sp>
        <p:nvSpPr>
          <p:cNvPr id="3" name="Shape 1"/>
          <p:cNvSpPr/>
          <p:nvPr/>
        </p:nvSpPr>
        <p:spPr>
          <a:xfrm>
            <a:off x="0" y="0"/>
            <a:ext cx="12191695" cy="658368"/>
          </a:xfrm>
          <a:prstGeom prst="rect">
            <a:avLst/>
          </a:prstGeom>
          <a:solidFill>
            <a:srgbClr val="050A14"/>
          </a:solidFill>
          <a:ln w="12700">
            <a:solidFill>
              <a:srgbClr val="050A14"/>
            </a:solidFill>
            <a:prstDash val="solid"/>
          </a:ln>
        </p:spPr>
      </p:sp>
      <p:sp>
        <p:nvSpPr>
          <p:cNvPr id="4" name="Shape 2"/>
          <p:cNvSpPr/>
          <p:nvPr/>
        </p:nvSpPr>
        <p:spPr>
          <a:xfrm>
            <a:off x="502920" y="658368"/>
            <a:ext cx="11185855" cy="45720"/>
          </a:xfrm>
          <a:prstGeom prst="rect">
            <a:avLst/>
          </a:prstGeom>
          <a:solidFill>
            <a:srgbClr val="19E3C5"/>
          </a:solidFill>
          <a:ln w="12700">
            <a:solidFill>
              <a:srgbClr val="19E3C5"/>
            </a:solidFill>
            <a:prstDash val="solid"/>
          </a:ln>
        </p:spPr>
      </p:sp>
      <p:sp>
        <p:nvSpPr>
          <p:cNvPr id="5" name="Text 3"/>
          <p:cNvSpPr/>
          <p:nvPr/>
        </p:nvSpPr>
        <p:spPr>
          <a:xfrm>
            <a:off x="502920" y="109728"/>
            <a:ext cx="11185855" cy="292608"/>
          </a:xfrm>
          <a:prstGeom prst="rect">
            <a:avLst/>
          </a:prstGeom>
          <a:noFill/>
          <a:ln/>
        </p:spPr>
        <p:txBody>
          <a:bodyPr wrap="square" rtlCol="0" anchor="ctr"/>
          <a:lstStyle/>
          <a:p>
            <a:pPr marL="0" indent="0">
              <a:buNone/>
            </a:pPr>
            <a:r>
              <a:rPr lang="en-US" sz="2800" b="1" dirty="0">
                <a:solidFill>
                  <a:srgbClr val="EAF2FF"/>
                </a:solidFill>
                <a:latin typeface="Yu Gothic" pitchFamily="34" charset="0"/>
                <a:ea typeface="Yu Gothic" pitchFamily="34" charset="-122"/>
                <a:cs typeface="Yu Gothic" pitchFamily="34" charset="-120"/>
              </a:rPr>
              <a:t>補足②：P（時間波密度）の定義を一本化する</a:t>
            </a:r>
            <a:endParaRPr lang="en-US" sz="2800" dirty="0"/>
          </a:p>
        </p:txBody>
      </p:sp>
      <p:sp>
        <p:nvSpPr>
          <p:cNvPr id="6" name="Text 4"/>
          <p:cNvSpPr/>
          <p:nvPr/>
        </p:nvSpPr>
        <p:spPr>
          <a:xfrm>
            <a:off x="502920" y="420624"/>
            <a:ext cx="11185855" cy="219456"/>
          </a:xfrm>
          <a:prstGeom prst="rect">
            <a:avLst/>
          </a:prstGeom>
          <a:noFill/>
          <a:ln/>
        </p:spPr>
        <p:txBody>
          <a:bodyPr wrap="square" rtlCol="0" anchor="ctr"/>
          <a:lstStyle/>
          <a:p>
            <a:pPr marL="0" indent="0">
              <a:buNone/>
            </a:pPr>
            <a:r>
              <a:rPr lang="en-US" sz="1400" dirty="0">
                <a:solidFill>
                  <a:srgbClr val="A9B7D0"/>
                </a:solidFill>
                <a:latin typeface="Yu Gothic" pitchFamily="34" charset="0"/>
                <a:ea typeface="Yu Gothic" pitchFamily="34" charset="-122"/>
                <a:cs typeface="Yu Gothic" pitchFamily="34" charset="-120"/>
              </a:rPr>
              <a:t>P＝「時間の刻みの細かさ」＝時間波の波面密度（空間スカラー）</a:t>
            </a:r>
            <a:endParaRPr lang="en-US" sz="1400" dirty="0"/>
          </a:p>
        </p:txBody>
      </p:sp>
      <p:sp>
        <p:nvSpPr>
          <p:cNvPr id="7" name="Shape 5"/>
          <p:cNvSpPr/>
          <p:nvPr/>
        </p:nvSpPr>
        <p:spPr>
          <a:xfrm>
            <a:off x="685800" y="1143000"/>
            <a:ext cx="571500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8" name="Text 6"/>
          <p:cNvSpPr/>
          <p:nvPr/>
        </p:nvSpPr>
        <p:spPr>
          <a:xfrm>
            <a:off x="960120" y="1344168"/>
            <a:ext cx="516636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Pの意味（ここでの言い換え）</a:t>
            </a:r>
            <a:endParaRPr lang="en-US" sz="1600" dirty="0"/>
          </a:p>
        </p:txBody>
      </p:sp>
      <p:sp>
        <p:nvSpPr>
          <p:cNvPr id="9" name="Text 7"/>
          <p:cNvSpPr/>
          <p:nvPr/>
        </p:nvSpPr>
        <p:spPr>
          <a:xfrm>
            <a:off x="1005840" y="1691640"/>
            <a:ext cx="507492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・時間も波として扱う：空間には常に「時間波」が満ちている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・P＝時間波の波面がどれだけ詰まっているか（刻みの細かさ）</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・Pは「場所の値」：空間スカラーとして分布を持つ（質量で歪む）</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・時計＝内部波の周期現象：時計の進みはPとの位相整合で決まる</a:t>
            </a:r>
            <a:endParaRPr lang="en-US" sz="1400" dirty="0"/>
          </a:p>
        </p:txBody>
      </p:sp>
      <p:sp>
        <p:nvSpPr>
          <p:cNvPr id="10" name="Shape 8"/>
          <p:cNvSpPr/>
          <p:nvPr/>
        </p:nvSpPr>
        <p:spPr>
          <a:xfrm>
            <a:off x="6629400" y="1143000"/>
            <a:ext cx="489204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11" name="Text 9"/>
          <p:cNvSpPr/>
          <p:nvPr/>
        </p:nvSpPr>
        <p:spPr>
          <a:xfrm>
            <a:off x="6903720" y="1344168"/>
            <a:ext cx="434340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運動時の扱い（有効P）</a:t>
            </a:r>
            <a:endParaRPr lang="en-US" sz="1600" dirty="0"/>
          </a:p>
        </p:txBody>
      </p:sp>
      <p:sp>
        <p:nvSpPr>
          <p:cNvPr id="12" name="Text 10"/>
          <p:cNvSpPr/>
          <p:nvPr/>
        </p:nvSpPr>
        <p:spPr>
          <a:xfrm>
            <a:off x="6949440" y="1691640"/>
            <a:ext cx="425196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・物体が動くと、時間波の“見え方”が前後で変わる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・進行方向：波面が詰まって見える（有効Pが高く見える）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・後方：波面が伸びて見える（有効Pが低く見える）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・P自体は空間スカラーのまま。前後差は「観測される有効P」の話</a:t>
            </a:r>
            <a:endParaRPr lang="en-US" sz="1400" dirty="0"/>
          </a:p>
        </p:txBody>
      </p:sp>
      <p:sp>
        <p:nvSpPr>
          <p:cNvPr id="13" name="Text 11"/>
          <p:cNvSpPr/>
          <p:nvPr/>
        </p:nvSpPr>
        <p:spPr>
          <a:xfrm>
            <a:off x="502920" y="6537960"/>
            <a:ext cx="11185855" cy="228600"/>
          </a:xfrm>
          <a:prstGeom prst="rect">
            <a:avLst/>
          </a:prstGeom>
          <a:noFill/>
          <a:ln/>
        </p:spPr>
        <p:txBody>
          <a:bodyPr wrap="square" rtlCol="0" anchor="ctr"/>
          <a:lstStyle/>
          <a:p>
            <a:pPr marL="0" indent="0">
              <a:buNone/>
            </a:pPr>
            <a:r>
              <a:rPr lang="en-US" sz="1000" dirty="0">
                <a:solidFill>
                  <a:srgbClr val="6F7E9B"/>
                </a:solidFill>
                <a:latin typeface="Yu Gothic" pitchFamily="34" charset="0"/>
                <a:ea typeface="Yu Gothic" pitchFamily="34" charset="-122"/>
                <a:cs typeface="Yu Gothic" pitchFamily="34" charset="-120"/>
              </a:rPr>
              <a:t>P is scalar in space; motion changes effective/observed 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11155680" cy="457200"/>
          </a:xfrm>
          <a:prstGeom prst="rect">
            <a:avLst/>
          </a:prstGeom>
          <a:noFill/>
          <a:ln/>
        </p:spPr>
        <p:txBody>
          <a:bodyPr wrap="square" rtlCol="0" anchor="ctr"/>
          <a:lstStyle/>
          <a:p>
            <a:pPr marL="0" indent="0">
              <a:buNone/>
            </a:pPr>
            <a:r>
              <a:rPr lang="en-US" sz="2800" b="1" dirty="0">
                <a:solidFill>
                  <a:srgbClr val="E6F1FF"/>
                </a:solidFill>
                <a:latin typeface="Yu Gothic" pitchFamily="34" charset="0"/>
                <a:ea typeface="Yu Gothic" pitchFamily="34" charset="-122"/>
                <a:cs typeface="Yu Gothic" pitchFamily="34" charset="-120"/>
              </a:rPr>
              <a:t>3) 質量がPを歪める（放射状に減衰）</a:t>
            </a:r>
            <a:endParaRPr lang="en-US" sz="2800" dirty="0"/>
          </a:p>
        </p:txBody>
      </p:sp>
      <p:sp>
        <p:nvSpPr>
          <p:cNvPr id="3" name="Shape 1"/>
          <p:cNvSpPr/>
          <p:nvPr/>
        </p:nvSpPr>
        <p:spPr>
          <a:xfrm>
            <a:off x="548640" y="868680"/>
            <a:ext cx="11155680" cy="36576"/>
          </a:xfrm>
          <a:prstGeom prst="rect">
            <a:avLst/>
          </a:prstGeom>
          <a:solidFill>
            <a:srgbClr val="2DD4BF"/>
          </a:solidFill>
          <a:ln w="12700">
            <a:solidFill>
              <a:srgbClr val="2DD4BF"/>
            </a:solidFill>
            <a:prstDash val="solid"/>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1097280"/>
            <a:ext cx="11155680" cy="5166360"/>
          </a:xfrm>
          <a:prstGeom prst="rect">
            <a:avLst/>
          </a:prstGeom>
        </p:spPr>
      </p:pic>
      <p:sp>
        <p:nvSpPr>
          <p:cNvPr id="5" name="Shape 2"/>
          <p:cNvSpPr/>
          <p:nvPr/>
        </p:nvSpPr>
        <p:spPr>
          <a:xfrm>
            <a:off x="548640" y="5669280"/>
            <a:ext cx="11155680" cy="594360"/>
          </a:xfrm>
          <a:prstGeom prst="roundRect">
            <a:avLst/>
          </a:prstGeom>
          <a:solidFill>
            <a:srgbClr val="111A33"/>
          </a:solidFill>
          <a:ln w="12700">
            <a:solidFill>
              <a:srgbClr val="223055">
                <a:alpha val="80000"/>
              </a:srgbClr>
            </a:solidFill>
            <a:prstDash val="solid"/>
          </a:ln>
        </p:spPr>
      </p:sp>
      <p:sp>
        <p:nvSpPr>
          <p:cNvPr id="6" name="Text 3"/>
          <p:cNvSpPr/>
          <p:nvPr/>
        </p:nvSpPr>
        <p:spPr>
          <a:xfrm>
            <a:off x="822960" y="5788152"/>
            <a:ext cx="10607040" cy="320040"/>
          </a:xfrm>
          <a:prstGeom prst="rect">
            <a:avLst/>
          </a:prstGeom>
          <a:noFill/>
          <a:ln/>
        </p:spPr>
        <p:txBody>
          <a:bodyPr wrap="square" rtlCol="0" anchor="ctr"/>
          <a:lstStyle/>
          <a:p>
            <a:pPr marL="0" indent="0">
              <a:buNone/>
            </a:pPr>
            <a:r>
              <a:rPr lang="en-US" sz="1600" dirty="0" err="1">
                <a:solidFill>
                  <a:srgbClr val="E6F1FF"/>
                </a:solidFill>
                <a:latin typeface="Yu Gothic" pitchFamily="34" charset="0"/>
                <a:ea typeface="Yu Gothic" pitchFamily="34" charset="-122"/>
                <a:cs typeface="Yu Gothic" pitchFamily="34" charset="-120"/>
              </a:rPr>
              <a:t>質量源のまわりでPが変化し、その変化は中心から放射状に広がって距離とともに滑らかに弱まる</a:t>
            </a:r>
            <a:endParaRPr lang="en-US" sz="1600" dirty="0"/>
          </a:p>
        </p:txBody>
      </p:sp>
      <p:sp>
        <p:nvSpPr>
          <p:cNvPr id="7" name="Text 4"/>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P分布 → 勾配 ∇P が生まれる</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C18"/>
          </a:solidFill>
          <a:ln w="12700">
            <a:solidFill>
              <a:srgbClr val="070C18"/>
            </a:solidFill>
            <a:prstDash val="solid"/>
          </a:ln>
        </p:spPr>
      </p:sp>
      <p:sp>
        <p:nvSpPr>
          <p:cNvPr id="3" name="Shape 1"/>
          <p:cNvSpPr/>
          <p:nvPr/>
        </p:nvSpPr>
        <p:spPr>
          <a:xfrm>
            <a:off x="0" y="0"/>
            <a:ext cx="12191695" cy="658368"/>
          </a:xfrm>
          <a:prstGeom prst="rect">
            <a:avLst/>
          </a:prstGeom>
          <a:solidFill>
            <a:srgbClr val="050A14"/>
          </a:solidFill>
          <a:ln w="12700">
            <a:solidFill>
              <a:srgbClr val="050A14"/>
            </a:solidFill>
            <a:prstDash val="solid"/>
          </a:ln>
        </p:spPr>
      </p:sp>
      <p:sp>
        <p:nvSpPr>
          <p:cNvPr id="4" name="Shape 2"/>
          <p:cNvSpPr/>
          <p:nvPr/>
        </p:nvSpPr>
        <p:spPr>
          <a:xfrm>
            <a:off x="502920" y="658368"/>
            <a:ext cx="11185855" cy="45720"/>
          </a:xfrm>
          <a:prstGeom prst="rect">
            <a:avLst/>
          </a:prstGeom>
          <a:solidFill>
            <a:srgbClr val="19E3C5"/>
          </a:solidFill>
          <a:ln w="12700">
            <a:solidFill>
              <a:srgbClr val="19E3C5"/>
            </a:solidFill>
            <a:prstDash val="solid"/>
          </a:ln>
        </p:spPr>
      </p:sp>
      <p:sp>
        <p:nvSpPr>
          <p:cNvPr id="5" name="Text 3"/>
          <p:cNvSpPr/>
          <p:nvPr/>
        </p:nvSpPr>
        <p:spPr>
          <a:xfrm>
            <a:off x="502920" y="109728"/>
            <a:ext cx="11185855" cy="292608"/>
          </a:xfrm>
          <a:prstGeom prst="rect">
            <a:avLst/>
          </a:prstGeom>
          <a:noFill/>
          <a:ln/>
        </p:spPr>
        <p:txBody>
          <a:bodyPr wrap="square" rtlCol="0" anchor="ctr"/>
          <a:lstStyle/>
          <a:p>
            <a:pPr marL="0" indent="0">
              <a:buNone/>
            </a:pPr>
            <a:r>
              <a:rPr lang="en-US" sz="2800" b="1" dirty="0">
                <a:solidFill>
                  <a:srgbClr val="EAF2FF"/>
                </a:solidFill>
                <a:latin typeface="Yu Gothic" pitchFamily="34" charset="0"/>
                <a:ea typeface="Yu Gothic" pitchFamily="34" charset="-122"/>
                <a:cs typeface="Yu Gothic" pitchFamily="34" charset="-120"/>
              </a:rPr>
              <a:t>補足③：質量がPを歪める、を言葉で固定する</a:t>
            </a:r>
            <a:endParaRPr lang="en-US" sz="2800" dirty="0"/>
          </a:p>
        </p:txBody>
      </p:sp>
      <p:sp>
        <p:nvSpPr>
          <p:cNvPr id="6" name="Text 4"/>
          <p:cNvSpPr/>
          <p:nvPr/>
        </p:nvSpPr>
        <p:spPr>
          <a:xfrm>
            <a:off x="502920" y="420624"/>
            <a:ext cx="11185855" cy="219456"/>
          </a:xfrm>
          <a:prstGeom prst="rect">
            <a:avLst/>
          </a:prstGeom>
          <a:noFill/>
          <a:ln/>
        </p:spPr>
        <p:txBody>
          <a:bodyPr wrap="square" rtlCol="0" anchor="ctr"/>
          <a:lstStyle/>
          <a:p>
            <a:pPr marL="0" indent="0">
              <a:buNone/>
            </a:pPr>
            <a:r>
              <a:rPr lang="en-US" sz="1400" dirty="0">
                <a:solidFill>
                  <a:srgbClr val="A9B7D0"/>
                </a:solidFill>
                <a:latin typeface="Yu Gothic" pitchFamily="34" charset="0"/>
                <a:ea typeface="Yu Gothic" pitchFamily="34" charset="-122"/>
                <a:cs typeface="Yu Gothic" pitchFamily="34" charset="-120"/>
              </a:rPr>
              <a:t>放射状に広がり、距離とともに滑らかに減衰（この仮定が重力の種）</a:t>
            </a:r>
            <a:endParaRPr lang="en-US" sz="1400" dirty="0"/>
          </a:p>
        </p:txBody>
      </p:sp>
      <p:sp>
        <p:nvSpPr>
          <p:cNvPr id="7" name="Shape 5"/>
          <p:cNvSpPr/>
          <p:nvPr/>
        </p:nvSpPr>
        <p:spPr>
          <a:xfrm>
            <a:off x="685800" y="1143000"/>
            <a:ext cx="580644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8" name="Text 6"/>
          <p:cNvSpPr/>
          <p:nvPr/>
        </p:nvSpPr>
        <p:spPr>
          <a:xfrm>
            <a:off x="960120" y="1344168"/>
            <a:ext cx="525780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何を仮定しているか</a:t>
            </a:r>
            <a:endParaRPr lang="en-US" sz="1600" dirty="0"/>
          </a:p>
        </p:txBody>
      </p:sp>
      <p:sp>
        <p:nvSpPr>
          <p:cNvPr id="9" name="Text 7"/>
          <p:cNvSpPr/>
          <p:nvPr/>
        </p:nvSpPr>
        <p:spPr>
          <a:xfrm>
            <a:off x="1005840" y="1691640"/>
            <a:ext cx="516636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・質量源の周囲でPが変化し、その変化は中心から放射状に広がる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・距離が離れるほど、その変化は滑らかに弱まる（単調減衰）</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・結果として「Pの勾配 ∇P」が生まれる</a:t>
            </a:r>
            <a:endParaRPr lang="en-US" sz="1400" dirty="0"/>
          </a:p>
          <a:p>
            <a:pPr marL="0" indent="0">
              <a:lnSpc>
                <a:spcPct val="112000"/>
              </a:lnSpc>
              <a:buNone/>
            </a:pPr>
            <a:r>
              <a:rPr lang="en-US" sz="1400">
                <a:solidFill>
                  <a:srgbClr val="D7E2F3"/>
                </a:solidFill>
                <a:latin typeface="Yu Gothic" pitchFamily="34" charset="0"/>
                <a:ea typeface="Yu Gothic" pitchFamily="34" charset="-122"/>
                <a:cs typeface="Yu Gothic" pitchFamily="34" charset="-120"/>
              </a:rPr>
              <a:t>・</a:t>
            </a:r>
            <a:r>
              <a:rPr lang="ja-JP" altLang="en-US" sz="1400">
                <a:solidFill>
                  <a:srgbClr val="D7E2F3"/>
                </a:solidFill>
                <a:latin typeface="Yu Gothic" pitchFamily="34" charset="0"/>
                <a:ea typeface="Yu Gothic" pitchFamily="34" charset="-122"/>
              </a:rPr>
              <a:t>質量</a:t>
            </a:r>
            <a:r>
              <a:rPr lang="ja-JP" altLang="en-US" sz="1400" dirty="0">
                <a:solidFill>
                  <a:srgbClr val="D7E2F3"/>
                </a:solidFill>
                <a:latin typeface="Yu Gothic" pitchFamily="34" charset="0"/>
                <a:ea typeface="Yu Gothic" pitchFamily="34" charset="-122"/>
              </a:rPr>
              <a:t>＝高密度の波の塊 。高密度の波をその場に維持するために、周囲の場のリソース（時間波）を拘束・消費している。その</a:t>
            </a:r>
            <a:r>
              <a:rPr lang="en-US" altLang="ja-JP" sz="1400" dirty="0">
                <a:solidFill>
                  <a:srgbClr val="D7E2F3"/>
                </a:solidFill>
                <a:latin typeface="Yu Gothic" pitchFamily="34" charset="0"/>
                <a:ea typeface="Yu Gothic" pitchFamily="34" charset="-122"/>
              </a:rPr>
              <a:t>『</a:t>
            </a:r>
            <a:r>
              <a:rPr lang="ja-JP" altLang="en-US" sz="1400" dirty="0">
                <a:solidFill>
                  <a:srgbClr val="D7E2F3"/>
                </a:solidFill>
                <a:latin typeface="Yu Gothic" pitchFamily="34" charset="0"/>
                <a:ea typeface="Yu Gothic" pitchFamily="34" charset="-122"/>
              </a:rPr>
              <a:t>欠乏</a:t>
            </a:r>
            <a:r>
              <a:rPr lang="en-US" altLang="ja-JP" sz="1400" dirty="0">
                <a:solidFill>
                  <a:srgbClr val="D7E2F3"/>
                </a:solidFill>
                <a:latin typeface="Yu Gothic" pitchFamily="34" charset="0"/>
                <a:ea typeface="Yu Gothic" pitchFamily="34" charset="-122"/>
              </a:rPr>
              <a:t>/</a:t>
            </a:r>
            <a:r>
              <a:rPr lang="ja-JP" altLang="en-US" sz="1400" dirty="0">
                <a:solidFill>
                  <a:srgbClr val="D7E2F3"/>
                </a:solidFill>
                <a:latin typeface="Yu Gothic" pitchFamily="34" charset="0"/>
                <a:ea typeface="Yu Gothic" pitchFamily="34" charset="-122"/>
              </a:rPr>
              <a:t>テンション</a:t>
            </a:r>
            <a:r>
              <a:rPr lang="en-US" altLang="ja-JP" sz="1400" dirty="0">
                <a:solidFill>
                  <a:srgbClr val="D7E2F3"/>
                </a:solidFill>
                <a:latin typeface="Yu Gothic" pitchFamily="34" charset="0"/>
                <a:ea typeface="Yu Gothic" pitchFamily="34" charset="-122"/>
              </a:rPr>
              <a:t>』</a:t>
            </a:r>
            <a:r>
              <a:rPr lang="ja-JP" altLang="en-US" sz="1400" dirty="0">
                <a:solidFill>
                  <a:srgbClr val="D7E2F3"/>
                </a:solidFill>
                <a:latin typeface="Yu Gothic" pitchFamily="34" charset="0"/>
                <a:ea typeface="Yu Gothic" pitchFamily="34" charset="-122"/>
              </a:rPr>
              <a:t>が </a:t>
            </a:r>
            <a:r>
              <a:rPr lang="en-US" altLang="ja-JP" sz="1400" dirty="0">
                <a:solidFill>
                  <a:srgbClr val="D7E2F3"/>
                </a:solidFill>
                <a:latin typeface="Yu Gothic" pitchFamily="34" charset="0"/>
                <a:ea typeface="Yu Gothic" pitchFamily="34" charset="-122"/>
              </a:rPr>
              <a:t>P </a:t>
            </a:r>
            <a:r>
              <a:rPr lang="ja-JP" altLang="en-US" sz="1400" dirty="0">
                <a:solidFill>
                  <a:srgbClr val="D7E2F3"/>
                </a:solidFill>
                <a:latin typeface="Yu Gothic" pitchFamily="34" charset="0"/>
                <a:ea typeface="Yu Gothic" pitchFamily="34" charset="-122"/>
              </a:rPr>
              <a:t>の勾配として現れる</a:t>
            </a:r>
            <a:endParaRPr lang="en-US" sz="1400" dirty="0"/>
          </a:p>
        </p:txBody>
      </p:sp>
      <p:sp>
        <p:nvSpPr>
          <p:cNvPr id="10" name="Shape 8"/>
          <p:cNvSpPr/>
          <p:nvPr/>
        </p:nvSpPr>
        <p:spPr>
          <a:xfrm>
            <a:off x="6720840" y="1143000"/>
            <a:ext cx="480060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11" name="Text 9"/>
          <p:cNvSpPr/>
          <p:nvPr/>
        </p:nvSpPr>
        <p:spPr>
          <a:xfrm>
            <a:off x="6995160" y="1344168"/>
            <a:ext cx="425196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なぜこの仮定が効くか</a:t>
            </a:r>
            <a:endParaRPr lang="en-US" sz="1600" dirty="0"/>
          </a:p>
        </p:txBody>
      </p:sp>
      <p:sp>
        <p:nvSpPr>
          <p:cNvPr id="12" name="Text 10"/>
          <p:cNvSpPr/>
          <p:nvPr/>
        </p:nvSpPr>
        <p:spPr>
          <a:xfrm>
            <a:off x="7040880" y="1691640"/>
            <a:ext cx="416052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・勾配がある＝場所によって「時間の刻み」が違う</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・波の塊（物体）は“位相がそろう位置”へ安定しようとする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・だから勾配の中では安定位置がずれていく（後段の重力）</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・関数形は後で導出：必要なのは「勾配が生まれる」こと</a:t>
            </a:r>
            <a:endParaRPr lang="en-US" sz="1400" dirty="0"/>
          </a:p>
        </p:txBody>
      </p:sp>
      <p:sp>
        <p:nvSpPr>
          <p:cNvPr id="13" name="Text 11"/>
          <p:cNvSpPr/>
          <p:nvPr/>
        </p:nvSpPr>
        <p:spPr>
          <a:xfrm>
            <a:off x="502920" y="6537960"/>
            <a:ext cx="11185855" cy="228600"/>
          </a:xfrm>
          <a:prstGeom prst="rect">
            <a:avLst/>
          </a:prstGeom>
          <a:noFill/>
          <a:ln/>
        </p:spPr>
        <p:txBody>
          <a:bodyPr wrap="square" rtlCol="0" anchor="ctr"/>
          <a:lstStyle/>
          <a:p>
            <a:pPr marL="0" indent="0">
              <a:buNone/>
            </a:pPr>
            <a:r>
              <a:rPr lang="en-US" sz="1000" dirty="0">
                <a:solidFill>
                  <a:srgbClr val="6F7E9B"/>
                </a:solidFill>
                <a:latin typeface="Yu Gothic" pitchFamily="34" charset="0"/>
                <a:ea typeface="Yu Gothic" pitchFamily="34" charset="-122"/>
                <a:cs typeface="Yu Gothic" pitchFamily="34" charset="-120"/>
              </a:rPr>
              <a:t>Assumption: P disturbance is radial and smoothly decays with distance.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11155680" cy="457200"/>
          </a:xfrm>
          <a:prstGeom prst="rect">
            <a:avLst/>
          </a:prstGeom>
          <a:noFill/>
          <a:ln/>
        </p:spPr>
        <p:txBody>
          <a:bodyPr wrap="square" rtlCol="0" anchor="ctr"/>
          <a:lstStyle/>
          <a:p>
            <a:pPr marL="0" indent="0">
              <a:buNone/>
            </a:pPr>
            <a:r>
              <a:rPr lang="en-US" sz="2800" b="1" dirty="0">
                <a:solidFill>
                  <a:srgbClr val="E6F1FF"/>
                </a:solidFill>
                <a:latin typeface="Yu Gothic" pitchFamily="34" charset="0"/>
                <a:ea typeface="Yu Gothic" pitchFamily="34" charset="-122"/>
                <a:cs typeface="Yu Gothic" pitchFamily="34" charset="-120"/>
              </a:rPr>
              <a:t>4) 重力：P勾配が「安定位置」をずらす</a:t>
            </a:r>
            <a:endParaRPr lang="en-US" sz="2800" dirty="0"/>
          </a:p>
        </p:txBody>
      </p:sp>
      <p:sp>
        <p:nvSpPr>
          <p:cNvPr id="3" name="Shape 1"/>
          <p:cNvSpPr/>
          <p:nvPr/>
        </p:nvSpPr>
        <p:spPr>
          <a:xfrm>
            <a:off x="548640" y="868680"/>
            <a:ext cx="11155680" cy="36576"/>
          </a:xfrm>
          <a:prstGeom prst="rect">
            <a:avLst/>
          </a:prstGeom>
          <a:solidFill>
            <a:srgbClr val="2DD4BF"/>
          </a:solidFill>
          <a:ln w="12700">
            <a:solidFill>
              <a:srgbClr val="2DD4BF"/>
            </a:solidFill>
            <a:prstDash val="solid"/>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1097280"/>
            <a:ext cx="11155680" cy="5166360"/>
          </a:xfrm>
          <a:prstGeom prst="rect">
            <a:avLst/>
          </a:prstGeom>
        </p:spPr>
      </p:pic>
      <p:sp>
        <p:nvSpPr>
          <p:cNvPr id="5" name="Shape 2"/>
          <p:cNvSpPr/>
          <p:nvPr/>
        </p:nvSpPr>
        <p:spPr>
          <a:xfrm>
            <a:off x="548640" y="5669280"/>
            <a:ext cx="11155680" cy="5943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6" name="Text 3"/>
          <p:cNvSpPr/>
          <p:nvPr/>
        </p:nvSpPr>
        <p:spPr>
          <a:xfrm>
            <a:off x="822960" y="5779008"/>
            <a:ext cx="10607040" cy="320040"/>
          </a:xfrm>
          <a:prstGeom prst="rect">
            <a:avLst/>
          </a:prstGeom>
          <a:noFill/>
          <a:ln/>
        </p:spPr>
        <p:txBody>
          <a:bodyPr wrap="square" rtlCol="0" anchor="ctr"/>
          <a:lstStyle/>
          <a:p>
            <a:pPr marL="0" indent="0">
              <a:buNone/>
            </a:pPr>
            <a:r>
              <a:rPr lang="en-US" sz="1600" dirty="0">
                <a:solidFill>
                  <a:srgbClr val="E6F1FF"/>
                </a:solidFill>
                <a:latin typeface="Yu Gothic" pitchFamily="34" charset="0"/>
                <a:ea typeface="Yu Gothic" pitchFamily="34" charset="-122"/>
                <a:cs typeface="Yu Gothic" pitchFamily="34" charset="-120"/>
              </a:rPr>
              <a:t>解釈：重力は「引っ張る力」ではなく、P分布の中で“居心地の良い位置”が勾配方向へ移ることとして現れる</a:t>
            </a:r>
            <a:endParaRPr lang="en-US" sz="1600" dirty="0"/>
          </a:p>
        </p:txBody>
      </p:sp>
      <p:sp>
        <p:nvSpPr>
          <p:cNvPr id="7" name="Text 4"/>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物体＝波の塊 → 位相整合が最大の位置へ</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C18"/>
          </a:solidFill>
          <a:ln w="12700">
            <a:solidFill>
              <a:srgbClr val="070C18"/>
            </a:solidFill>
            <a:prstDash val="solid"/>
          </a:ln>
        </p:spPr>
      </p:sp>
      <p:sp>
        <p:nvSpPr>
          <p:cNvPr id="3" name="Shape 1"/>
          <p:cNvSpPr/>
          <p:nvPr/>
        </p:nvSpPr>
        <p:spPr>
          <a:xfrm>
            <a:off x="0" y="0"/>
            <a:ext cx="12191695" cy="658368"/>
          </a:xfrm>
          <a:prstGeom prst="rect">
            <a:avLst/>
          </a:prstGeom>
          <a:solidFill>
            <a:srgbClr val="050A14"/>
          </a:solidFill>
          <a:ln w="12700">
            <a:solidFill>
              <a:srgbClr val="050A14"/>
            </a:solidFill>
            <a:prstDash val="solid"/>
          </a:ln>
        </p:spPr>
      </p:sp>
      <p:sp>
        <p:nvSpPr>
          <p:cNvPr id="4" name="Shape 2"/>
          <p:cNvSpPr/>
          <p:nvPr/>
        </p:nvSpPr>
        <p:spPr>
          <a:xfrm>
            <a:off x="502920" y="658368"/>
            <a:ext cx="11185855" cy="45720"/>
          </a:xfrm>
          <a:prstGeom prst="rect">
            <a:avLst/>
          </a:prstGeom>
          <a:solidFill>
            <a:srgbClr val="19E3C5"/>
          </a:solidFill>
          <a:ln w="12700">
            <a:solidFill>
              <a:srgbClr val="19E3C5"/>
            </a:solidFill>
            <a:prstDash val="solid"/>
          </a:ln>
        </p:spPr>
      </p:sp>
      <p:sp>
        <p:nvSpPr>
          <p:cNvPr id="5" name="Text 3"/>
          <p:cNvSpPr/>
          <p:nvPr/>
        </p:nvSpPr>
        <p:spPr>
          <a:xfrm>
            <a:off x="502920" y="109728"/>
            <a:ext cx="11185855" cy="292608"/>
          </a:xfrm>
          <a:prstGeom prst="rect">
            <a:avLst/>
          </a:prstGeom>
          <a:noFill/>
          <a:ln/>
        </p:spPr>
        <p:txBody>
          <a:bodyPr wrap="square" rtlCol="0" anchor="ctr"/>
          <a:lstStyle/>
          <a:p>
            <a:pPr marL="0" indent="0">
              <a:buNone/>
            </a:pPr>
            <a:r>
              <a:rPr lang="en-US" sz="2800" b="1" dirty="0">
                <a:solidFill>
                  <a:srgbClr val="EAF2FF"/>
                </a:solidFill>
                <a:latin typeface="Yu Gothic" pitchFamily="34" charset="0"/>
                <a:ea typeface="Yu Gothic" pitchFamily="34" charset="-122"/>
                <a:cs typeface="Yu Gothic" pitchFamily="34" charset="-120"/>
              </a:rPr>
              <a:t>補足④：重力＝「P勾配の中で安定点がずれる」</a:t>
            </a:r>
            <a:endParaRPr lang="en-US" sz="2800" dirty="0"/>
          </a:p>
        </p:txBody>
      </p:sp>
      <p:sp>
        <p:nvSpPr>
          <p:cNvPr id="6" name="Text 4"/>
          <p:cNvSpPr/>
          <p:nvPr/>
        </p:nvSpPr>
        <p:spPr>
          <a:xfrm>
            <a:off x="502920" y="420624"/>
            <a:ext cx="11185855" cy="219456"/>
          </a:xfrm>
          <a:prstGeom prst="rect">
            <a:avLst/>
          </a:prstGeom>
          <a:noFill/>
          <a:ln/>
        </p:spPr>
        <p:txBody>
          <a:bodyPr wrap="square" rtlCol="0" anchor="ctr"/>
          <a:lstStyle/>
          <a:p>
            <a:pPr marL="0" indent="0">
              <a:buNone/>
            </a:pPr>
            <a:r>
              <a:rPr lang="en-US" sz="1400" dirty="0">
                <a:solidFill>
                  <a:srgbClr val="A9B7D0"/>
                </a:solidFill>
                <a:latin typeface="Yu Gothic" pitchFamily="34" charset="0"/>
                <a:ea typeface="Yu Gothic" pitchFamily="34" charset="-122"/>
                <a:cs typeface="Yu Gothic" pitchFamily="34" charset="-120"/>
              </a:rPr>
              <a:t>引っ張る手ではなく、波パターンの“居心地の良い位置”が動く</a:t>
            </a:r>
            <a:endParaRPr lang="en-US" sz="1400" dirty="0"/>
          </a:p>
        </p:txBody>
      </p:sp>
      <p:sp>
        <p:nvSpPr>
          <p:cNvPr id="7" name="Shape 5"/>
          <p:cNvSpPr/>
          <p:nvPr/>
        </p:nvSpPr>
        <p:spPr>
          <a:xfrm>
            <a:off x="685800" y="1143000"/>
            <a:ext cx="585216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8" name="Text 6"/>
          <p:cNvSpPr/>
          <p:nvPr/>
        </p:nvSpPr>
        <p:spPr>
          <a:xfrm>
            <a:off x="960120" y="1344168"/>
            <a:ext cx="530352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重力をこう言い換える</a:t>
            </a:r>
            <a:endParaRPr lang="en-US" sz="1600" dirty="0"/>
          </a:p>
        </p:txBody>
      </p:sp>
      <p:sp>
        <p:nvSpPr>
          <p:cNvPr id="9" name="Text 7"/>
          <p:cNvSpPr/>
          <p:nvPr/>
        </p:nvSpPr>
        <p:spPr>
          <a:xfrm>
            <a:off x="1005840" y="1691640"/>
            <a:ext cx="521208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・重力は「力」ではなく“結果として見える運動”として扱う</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・物体は波の塊：周囲Pの中で波のリズムが一番そろう位置が安定点</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・Pに勾配があると、その安定点自体が勾配方向へずれていく</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・私の定義では、これが「引き寄せ」に見える</a:t>
            </a:r>
            <a:endParaRPr lang="en-US" sz="1400" dirty="0"/>
          </a:p>
        </p:txBody>
      </p:sp>
      <p:sp>
        <p:nvSpPr>
          <p:cNvPr id="10" name="Shape 8"/>
          <p:cNvSpPr/>
          <p:nvPr/>
        </p:nvSpPr>
        <p:spPr>
          <a:xfrm>
            <a:off x="6766560" y="1143000"/>
            <a:ext cx="475488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11" name="Text 9"/>
          <p:cNvSpPr/>
          <p:nvPr/>
        </p:nvSpPr>
        <p:spPr>
          <a:xfrm>
            <a:off x="7040880" y="1344168"/>
            <a:ext cx="420624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疑問が出やすい所（先に潰す）</a:t>
            </a:r>
            <a:endParaRPr lang="en-US" sz="1600" dirty="0"/>
          </a:p>
        </p:txBody>
      </p:sp>
      <p:sp>
        <p:nvSpPr>
          <p:cNvPr id="12" name="Text 10"/>
          <p:cNvSpPr/>
          <p:nvPr/>
        </p:nvSpPr>
        <p:spPr>
          <a:xfrm>
            <a:off x="7086600" y="1691640"/>
            <a:ext cx="411480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・「抵抗（ドラッグ）」は前提にしない：場を流体として扱わない</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・遮蔽（影）が出るかは、Pの結合の仕方で決まる（式で詰める）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・加速度がどう出るかも、P(r) の形を置けば後で導出できる</a:t>
            </a:r>
            <a:endParaRPr lang="en-US" sz="1400" dirty="0"/>
          </a:p>
        </p:txBody>
      </p:sp>
      <p:sp>
        <p:nvSpPr>
          <p:cNvPr id="13" name="Text 11"/>
          <p:cNvSpPr/>
          <p:nvPr/>
        </p:nvSpPr>
        <p:spPr>
          <a:xfrm>
            <a:off x="502920" y="6537960"/>
            <a:ext cx="11185855" cy="228600"/>
          </a:xfrm>
          <a:prstGeom prst="rect">
            <a:avLst/>
          </a:prstGeom>
          <a:noFill/>
          <a:ln/>
        </p:spPr>
        <p:txBody>
          <a:bodyPr wrap="square" rtlCol="0" anchor="ctr"/>
          <a:lstStyle/>
          <a:p>
            <a:pPr marL="0" indent="0">
              <a:buNone/>
            </a:pPr>
            <a:r>
              <a:rPr lang="en-US" sz="1000" dirty="0">
                <a:solidFill>
                  <a:srgbClr val="6F7E9B"/>
                </a:solidFill>
                <a:latin typeface="Yu Gothic" pitchFamily="34" charset="0"/>
                <a:ea typeface="Yu Gothic" pitchFamily="34" charset="-122"/>
                <a:cs typeface="Yu Gothic" pitchFamily="34" charset="-120"/>
              </a:rPr>
              <a:t>Gravity = drift of the stability point in a spatial P gradient.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11155680" cy="457200"/>
          </a:xfrm>
          <a:prstGeom prst="rect">
            <a:avLst/>
          </a:prstGeom>
          <a:noFill/>
          <a:ln/>
        </p:spPr>
        <p:txBody>
          <a:bodyPr wrap="square" rtlCol="0" anchor="ctr"/>
          <a:lstStyle/>
          <a:p>
            <a:pPr marL="0" indent="0">
              <a:buNone/>
            </a:pPr>
            <a:r>
              <a:rPr lang="en-US" sz="2800" b="1" dirty="0">
                <a:solidFill>
                  <a:srgbClr val="E6F1FF"/>
                </a:solidFill>
                <a:latin typeface="Yu Gothic" pitchFamily="34" charset="0"/>
                <a:ea typeface="Yu Gothic" pitchFamily="34" charset="-122"/>
                <a:cs typeface="Yu Gothic" pitchFamily="34" charset="-120"/>
              </a:rPr>
              <a:t>5) 光の曲がり：P分布が“最短時間経路”を曲げる</a:t>
            </a:r>
            <a:endParaRPr lang="en-US" sz="2800" dirty="0"/>
          </a:p>
        </p:txBody>
      </p:sp>
      <p:sp>
        <p:nvSpPr>
          <p:cNvPr id="3" name="Shape 1"/>
          <p:cNvSpPr/>
          <p:nvPr/>
        </p:nvSpPr>
        <p:spPr>
          <a:xfrm>
            <a:off x="548640" y="868680"/>
            <a:ext cx="11155680" cy="36576"/>
          </a:xfrm>
          <a:prstGeom prst="rect">
            <a:avLst/>
          </a:prstGeom>
          <a:solidFill>
            <a:srgbClr val="2DD4BF"/>
          </a:solidFill>
          <a:ln w="12700">
            <a:solidFill>
              <a:srgbClr val="2DD4BF"/>
            </a:solidFill>
            <a:prstDash val="solid"/>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1097280"/>
            <a:ext cx="11155680" cy="5166360"/>
          </a:xfrm>
          <a:prstGeom prst="rect">
            <a:avLst/>
          </a:prstGeom>
        </p:spPr>
      </p:pic>
      <p:sp>
        <p:nvSpPr>
          <p:cNvPr id="5" name="Shape 2"/>
          <p:cNvSpPr/>
          <p:nvPr/>
        </p:nvSpPr>
        <p:spPr>
          <a:xfrm>
            <a:off x="548640" y="5669280"/>
            <a:ext cx="11155680" cy="5943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6" name="Text 3"/>
          <p:cNvSpPr/>
          <p:nvPr/>
        </p:nvSpPr>
        <p:spPr>
          <a:xfrm>
            <a:off x="822960" y="5779008"/>
            <a:ext cx="10607040" cy="320040"/>
          </a:xfrm>
          <a:prstGeom prst="rect">
            <a:avLst/>
          </a:prstGeom>
          <a:noFill/>
          <a:ln/>
        </p:spPr>
        <p:txBody>
          <a:bodyPr wrap="square" rtlCol="0" anchor="ctr"/>
          <a:lstStyle/>
          <a:p>
            <a:pPr marL="0" indent="0">
              <a:buNone/>
            </a:pPr>
            <a:r>
              <a:rPr lang="en-US" sz="1600" dirty="0">
                <a:solidFill>
                  <a:srgbClr val="E6F1FF"/>
                </a:solidFill>
                <a:latin typeface="Yu Gothic" pitchFamily="34" charset="0"/>
                <a:ea typeface="Yu Gothic" pitchFamily="34" charset="-122"/>
                <a:cs typeface="Yu Gothic" pitchFamily="34" charset="-120"/>
              </a:rPr>
              <a:t>波は経路上の「所要時間」が極値となるルートをとる、という光学原理（フェルマー原理）と同型に捉える</a:t>
            </a:r>
            <a:endParaRPr lang="en-US" sz="1600" dirty="0"/>
          </a:p>
        </p:txBody>
      </p:sp>
      <p:sp>
        <p:nvSpPr>
          <p:cNvPr id="7" name="Text 4"/>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Pが位置で変わる → “時間”が場所依存 → 光路が曲線になる</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C18"/>
          </a:solidFill>
          <a:ln w="12700">
            <a:solidFill>
              <a:srgbClr val="070C18"/>
            </a:solidFill>
            <a:prstDash val="solid"/>
          </a:ln>
        </p:spPr>
      </p:sp>
      <p:sp>
        <p:nvSpPr>
          <p:cNvPr id="3" name="Shape 1"/>
          <p:cNvSpPr/>
          <p:nvPr/>
        </p:nvSpPr>
        <p:spPr>
          <a:xfrm>
            <a:off x="0" y="0"/>
            <a:ext cx="12191695" cy="658368"/>
          </a:xfrm>
          <a:prstGeom prst="rect">
            <a:avLst/>
          </a:prstGeom>
          <a:solidFill>
            <a:srgbClr val="050A14"/>
          </a:solidFill>
          <a:ln w="12700">
            <a:solidFill>
              <a:srgbClr val="050A14"/>
            </a:solidFill>
            <a:prstDash val="solid"/>
          </a:ln>
        </p:spPr>
      </p:sp>
      <p:sp>
        <p:nvSpPr>
          <p:cNvPr id="4" name="Shape 2"/>
          <p:cNvSpPr/>
          <p:nvPr/>
        </p:nvSpPr>
        <p:spPr>
          <a:xfrm>
            <a:off x="502920" y="658368"/>
            <a:ext cx="11185855" cy="45720"/>
          </a:xfrm>
          <a:prstGeom prst="rect">
            <a:avLst/>
          </a:prstGeom>
          <a:solidFill>
            <a:srgbClr val="19E3C5"/>
          </a:solidFill>
          <a:ln w="12700">
            <a:solidFill>
              <a:srgbClr val="19E3C5"/>
            </a:solidFill>
            <a:prstDash val="solid"/>
          </a:ln>
        </p:spPr>
      </p:sp>
      <p:sp>
        <p:nvSpPr>
          <p:cNvPr id="5" name="Text 3"/>
          <p:cNvSpPr/>
          <p:nvPr/>
        </p:nvSpPr>
        <p:spPr>
          <a:xfrm>
            <a:off x="502920" y="109728"/>
            <a:ext cx="11185855" cy="292608"/>
          </a:xfrm>
          <a:prstGeom prst="rect">
            <a:avLst/>
          </a:prstGeom>
          <a:noFill/>
          <a:ln/>
        </p:spPr>
        <p:txBody>
          <a:bodyPr wrap="square" rtlCol="0" anchor="ctr"/>
          <a:lstStyle/>
          <a:p>
            <a:pPr marL="0" indent="0">
              <a:buNone/>
            </a:pPr>
            <a:r>
              <a:rPr lang="en-US" sz="2800" b="1" dirty="0">
                <a:solidFill>
                  <a:srgbClr val="EAF2FF"/>
                </a:solidFill>
                <a:latin typeface="Yu Gothic" pitchFamily="34" charset="0"/>
                <a:ea typeface="Yu Gothic" pitchFamily="34" charset="-122"/>
                <a:cs typeface="Yu Gothic" pitchFamily="34" charset="-120"/>
              </a:rPr>
              <a:t>補足⑤：光の曲がり＝P分布の中での「最短時間経路」</a:t>
            </a:r>
            <a:endParaRPr lang="en-US" sz="2800" dirty="0"/>
          </a:p>
        </p:txBody>
      </p:sp>
      <p:sp>
        <p:nvSpPr>
          <p:cNvPr id="6" name="Text 4"/>
          <p:cNvSpPr/>
          <p:nvPr/>
        </p:nvSpPr>
        <p:spPr>
          <a:xfrm>
            <a:off x="502920" y="420624"/>
            <a:ext cx="11185855" cy="219456"/>
          </a:xfrm>
          <a:prstGeom prst="rect">
            <a:avLst/>
          </a:prstGeom>
          <a:noFill/>
          <a:ln/>
        </p:spPr>
        <p:txBody>
          <a:bodyPr wrap="square" rtlCol="0" anchor="ctr"/>
          <a:lstStyle/>
          <a:p>
            <a:pPr marL="0" indent="0">
              <a:buNone/>
            </a:pPr>
            <a:r>
              <a:rPr lang="en-US" sz="1400" dirty="0">
                <a:solidFill>
                  <a:srgbClr val="A9B7D0"/>
                </a:solidFill>
                <a:latin typeface="Yu Gothic" pitchFamily="34" charset="0"/>
                <a:ea typeface="Yu Gothic" pitchFamily="34" charset="-122"/>
                <a:cs typeface="Yu Gothic" pitchFamily="34" charset="-120"/>
              </a:rPr>
              <a:t>屈折率が変わる媒質と同じ感覚で説明できる</a:t>
            </a:r>
            <a:endParaRPr lang="en-US" sz="1400" dirty="0"/>
          </a:p>
        </p:txBody>
      </p:sp>
      <p:sp>
        <p:nvSpPr>
          <p:cNvPr id="7" name="Shape 5"/>
          <p:cNvSpPr/>
          <p:nvPr/>
        </p:nvSpPr>
        <p:spPr>
          <a:xfrm>
            <a:off x="685800" y="1143000"/>
            <a:ext cx="598932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8" name="Text 6"/>
          <p:cNvSpPr/>
          <p:nvPr/>
        </p:nvSpPr>
        <p:spPr>
          <a:xfrm>
            <a:off x="960120" y="1344168"/>
            <a:ext cx="544068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何が起きているか</a:t>
            </a:r>
            <a:endParaRPr lang="en-US" sz="1600" dirty="0"/>
          </a:p>
        </p:txBody>
      </p:sp>
      <p:sp>
        <p:nvSpPr>
          <p:cNvPr id="9" name="Text 7"/>
          <p:cNvSpPr/>
          <p:nvPr/>
        </p:nvSpPr>
        <p:spPr>
          <a:xfrm>
            <a:off x="1005840" y="1691640"/>
            <a:ext cx="534924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・光も波：時間波密度Pの分布の中を伝播する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・波は「最短時間（最も自然な位相条件）」を選ぶ</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・Pが場所で変わると“時間のかかり方”が場所依存になる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・その結果、最短時間経路が曲がり、光路が曲線になる</a:t>
            </a:r>
            <a:endParaRPr lang="en-US" sz="1400" dirty="0"/>
          </a:p>
        </p:txBody>
      </p:sp>
      <p:sp>
        <p:nvSpPr>
          <p:cNvPr id="10" name="Shape 8"/>
          <p:cNvSpPr/>
          <p:nvPr/>
        </p:nvSpPr>
        <p:spPr>
          <a:xfrm>
            <a:off x="6903720" y="1143000"/>
            <a:ext cx="461772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11" name="Text 9"/>
          <p:cNvSpPr/>
          <p:nvPr/>
        </p:nvSpPr>
        <p:spPr>
          <a:xfrm>
            <a:off x="7178040" y="1344168"/>
            <a:ext cx="406908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このモデルの強み</a:t>
            </a:r>
            <a:endParaRPr lang="en-US" sz="1600" dirty="0"/>
          </a:p>
        </p:txBody>
      </p:sp>
      <p:sp>
        <p:nvSpPr>
          <p:cNvPr id="12" name="Text 10"/>
          <p:cNvSpPr/>
          <p:nvPr/>
        </p:nvSpPr>
        <p:spPr>
          <a:xfrm>
            <a:off x="7223760" y="1691640"/>
            <a:ext cx="397764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・重力も屈折も“同じP”で説明できる（別ルールが要らない）</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・光も物体も「波」なので、同じP分布に従うのが自然</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・どの程度曲がるかは P(r) を決めれば後で計算できる</a:t>
            </a:r>
            <a:endParaRPr lang="en-US" sz="1400" dirty="0"/>
          </a:p>
        </p:txBody>
      </p:sp>
      <p:sp>
        <p:nvSpPr>
          <p:cNvPr id="13" name="Text 11"/>
          <p:cNvSpPr/>
          <p:nvPr/>
        </p:nvSpPr>
        <p:spPr>
          <a:xfrm>
            <a:off x="502920" y="6537960"/>
            <a:ext cx="11185855" cy="228600"/>
          </a:xfrm>
          <a:prstGeom prst="rect">
            <a:avLst/>
          </a:prstGeom>
          <a:noFill/>
          <a:ln/>
        </p:spPr>
        <p:txBody>
          <a:bodyPr wrap="square" rtlCol="0" anchor="ctr"/>
          <a:lstStyle/>
          <a:p>
            <a:pPr marL="0" indent="0">
              <a:buNone/>
            </a:pPr>
            <a:r>
              <a:rPr lang="en-US" sz="1000" dirty="0">
                <a:solidFill>
                  <a:srgbClr val="6F7E9B"/>
                </a:solidFill>
                <a:latin typeface="Yu Gothic" pitchFamily="34" charset="0"/>
                <a:ea typeface="Yu Gothic" pitchFamily="34" charset="-122"/>
                <a:cs typeface="Yu Gothic" pitchFamily="34" charset="-120"/>
              </a:rPr>
              <a:t>Light bending emerges as shortest-time path under spatially varying 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11155680" cy="457200"/>
          </a:xfrm>
          <a:prstGeom prst="rect">
            <a:avLst/>
          </a:prstGeom>
          <a:noFill/>
          <a:ln/>
        </p:spPr>
        <p:txBody>
          <a:bodyPr wrap="square" rtlCol="0" anchor="ctr"/>
          <a:lstStyle/>
          <a:p>
            <a:pPr marL="0" indent="0">
              <a:buNone/>
            </a:pPr>
            <a:r>
              <a:rPr lang="en-US" sz="2800" b="1" dirty="0">
                <a:solidFill>
                  <a:srgbClr val="E6F1FF"/>
                </a:solidFill>
                <a:latin typeface="Yu Gothic" pitchFamily="34" charset="0"/>
                <a:ea typeface="Yu Gothic" pitchFamily="34" charset="-122"/>
                <a:cs typeface="Yu Gothic" pitchFamily="34" charset="-120"/>
              </a:rPr>
              <a:t>6) 速度と時間：運動で有効Pが前後非対称になる</a:t>
            </a:r>
            <a:endParaRPr lang="en-US" sz="2800" dirty="0"/>
          </a:p>
        </p:txBody>
      </p:sp>
      <p:sp>
        <p:nvSpPr>
          <p:cNvPr id="3" name="Shape 1"/>
          <p:cNvSpPr/>
          <p:nvPr/>
        </p:nvSpPr>
        <p:spPr>
          <a:xfrm>
            <a:off x="548640" y="868680"/>
            <a:ext cx="11155680" cy="36576"/>
          </a:xfrm>
          <a:prstGeom prst="rect">
            <a:avLst/>
          </a:prstGeom>
          <a:solidFill>
            <a:srgbClr val="2DD4BF"/>
          </a:solidFill>
          <a:ln w="12700">
            <a:solidFill>
              <a:srgbClr val="2DD4BF"/>
            </a:solidFill>
            <a:prstDash val="solid"/>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1097280"/>
            <a:ext cx="11155680" cy="5166360"/>
          </a:xfrm>
          <a:prstGeom prst="rect">
            <a:avLst/>
          </a:prstGeom>
        </p:spPr>
      </p:pic>
      <p:sp>
        <p:nvSpPr>
          <p:cNvPr id="5" name="Shape 2"/>
          <p:cNvSpPr/>
          <p:nvPr/>
        </p:nvSpPr>
        <p:spPr>
          <a:xfrm>
            <a:off x="548640" y="5669280"/>
            <a:ext cx="11155680" cy="5943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6" name="Text 3"/>
          <p:cNvSpPr/>
          <p:nvPr/>
        </p:nvSpPr>
        <p:spPr>
          <a:xfrm>
            <a:off x="822960" y="5779008"/>
            <a:ext cx="10607040" cy="320040"/>
          </a:xfrm>
          <a:prstGeom prst="rect">
            <a:avLst/>
          </a:prstGeom>
          <a:noFill/>
          <a:ln/>
        </p:spPr>
        <p:txBody>
          <a:bodyPr wrap="square" rtlCol="0" anchor="ctr"/>
          <a:lstStyle/>
          <a:p>
            <a:pPr marL="0" indent="0">
              <a:buNone/>
            </a:pPr>
            <a:r>
              <a:rPr lang="en-US" sz="1500" dirty="0">
                <a:solidFill>
                  <a:srgbClr val="E6F1FF"/>
                </a:solidFill>
                <a:latin typeface="Yu Gothic" pitchFamily="34" charset="0"/>
                <a:ea typeface="Yu Gothic" pitchFamily="34" charset="-122"/>
                <a:cs typeface="Yu Gothic" pitchFamily="34" charset="-120"/>
              </a:rPr>
              <a:t>補足：相対論の一般的説明では、光速に近づくほど外部から見た時間遅れは大きくなる。本モデルでは刻みの更新は継続し、遅れが無限大になる必然はない。</a:t>
            </a:r>
            <a:endParaRPr lang="en-US" sz="1500" dirty="0"/>
          </a:p>
        </p:txBody>
      </p:sp>
      <p:sp>
        <p:nvSpPr>
          <p:cNvPr id="7" name="Text 4"/>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Pは空間スカラー / 有効Pは観測（運動）で前後差が出る</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C18"/>
          </a:solidFill>
          <a:ln w="12700">
            <a:solidFill>
              <a:srgbClr val="070C18"/>
            </a:solidFill>
            <a:prstDash val="solid"/>
          </a:ln>
        </p:spPr>
      </p:sp>
      <p:sp>
        <p:nvSpPr>
          <p:cNvPr id="3" name="Shape 1"/>
          <p:cNvSpPr/>
          <p:nvPr/>
        </p:nvSpPr>
        <p:spPr>
          <a:xfrm>
            <a:off x="0" y="0"/>
            <a:ext cx="12191695" cy="658368"/>
          </a:xfrm>
          <a:prstGeom prst="rect">
            <a:avLst/>
          </a:prstGeom>
          <a:solidFill>
            <a:srgbClr val="050A14"/>
          </a:solidFill>
          <a:ln w="12700">
            <a:solidFill>
              <a:srgbClr val="050A14"/>
            </a:solidFill>
            <a:prstDash val="solid"/>
          </a:ln>
        </p:spPr>
      </p:sp>
      <p:sp>
        <p:nvSpPr>
          <p:cNvPr id="4" name="Shape 2"/>
          <p:cNvSpPr/>
          <p:nvPr/>
        </p:nvSpPr>
        <p:spPr>
          <a:xfrm>
            <a:off x="502920" y="658368"/>
            <a:ext cx="11185855" cy="45720"/>
          </a:xfrm>
          <a:prstGeom prst="rect">
            <a:avLst/>
          </a:prstGeom>
          <a:solidFill>
            <a:srgbClr val="19E3C5"/>
          </a:solidFill>
          <a:ln w="12700">
            <a:solidFill>
              <a:srgbClr val="19E3C5"/>
            </a:solidFill>
            <a:prstDash val="solid"/>
          </a:ln>
        </p:spPr>
      </p:sp>
      <p:sp>
        <p:nvSpPr>
          <p:cNvPr id="5" name="Text 3"/>
          <p:cNvSpPr/>
          <p:nvPr/>
        </p:nvSpPr>
        <p:spPr>
          <a:xfrm>
            <a:off x="502920" y="109728"/>
            <a:ext cx="11185855" cy="292608"/>
          </a:xfrm>
          <a:prstGeom prst="rect">
            <a:avLst/>
          </a:prstGeom>
          <a:noFill/>
          <a:ln/>
        </p:spPr>
        <p:txBody>
          <a:bodyPr wrap="square" rtlCol="0" anchor="ctr"/>
          <a:lstStyle/>
          <a:p>
            <a:pPr marL="0" indent="0">
              <a:buNone/>
            </a:pPr>
            <a:r>
              <a:rPr lang="en-US" sz="2800" b="1" dirty="0">
                <a:solidFill>
                  <a:srgbClr val="EAF2FF"/>
                </a:solidFill>
                <a:latin typeface="Yu Gothic" pitchFamily="34" charset="0"/>
                <a:ea typeface="Yu Gothic" pitchFamily="34" charset="-122"/>
                <a:cs typeface="Yu Gothic" pitchFamily="34" charset="-120"/>
              </a:rPr>
              <a:t>補足⑥：速度と時間（有効Pの前後差）</a:t>
            </a:r>
            <a:endParaRPr lang="en-US" sz="2800" dirty="0"/>
          </a:p>
        </p:txBody>
      </p:sp>
      <p:sp>
        <p:nvSpPr>
          <p:cNvPr id="6" name="Text 4"/>
          <p:cNvSpPr/>
          <p:nvPr/>
        </p:nvSpPr>
        <p:spPr>
          <a:xfrm>
            <a:off x="502920" y="420624"/>
            <a:ext cx="11185855" cy="219456"/>
          </a:xfrm>
          <a:prstGeom prst="rect">
            <a:avLst/>
          </a:prstGeom>
          <a:noFill/>
          <a:ln/>
        </p:spPr>
        <p:txBody>
          <a:bodyPr wrap="square" rtlCol="0" anchor="ctr"/>
          <a:lstStyle/>
          <a:p>
            <a:pPr marL="0" indent="0">
              <a:buNone/>
            </a:pPr>
            <a:r>
              <a:rPr lang="en-US" sz="1400" dirty="0">
                <a:solidFill>
                  <a:srgbClr val="A9B7D0"/>
                </a:solidFill>
                <a:latin typeface="Yu Gothic" pitchFamily="34" charset="0"/>
                <a:ea typeface="Yu Gothic" pitchFamily="34" charset="-122"/>
                <a:cs typeface="Yu Gothic" pitchFamily="34" charset="-120"/>
              </a:rPr>
              <a:t>外からは遅く見える／中では調整込みで通常どおり</a:t>
            </a:r>
            <a:endParaRPr lang="en-US" sz="1400" dirty="0"/>
          </a:p>
        </p:txBody>
      </p:sp>
      <p:sp>
        <p:nvSpPr>
          <p:cNvPr id="7" name="Shape 5"/>
          <p:cNvSpPr/>
          <p:nvPr/>
        </p:nvSpPr>
        <p:spPr>
          <a:xfrm>
            <a:off x="685800" y="1143000"/>
            <a:ext cx="598932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8" name="Text 6"/>
          <p:cNvSpPr/>
          <p:nvPr/>
        </p:nvSpPr>
        <p:spPr>
          <a:xfrm>
            <a:off x="960120" y="1344168"/>
            <a:ext cx="544068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運動で何が変わるか</a:t>
            </a:r>
            <a:endParaRPr lang="en-US" sz="1600" dirty="0"/>
          </a:p>
        </p:txBody>
      </p:sp>
      <p:sp>
        <p:nvSpPr>
          <p:cNvPr id="9" name="Text 7"/>
          <p:cNvSpPr/>
          <p:nvPr/>
        </p:nvSpPr>
        <p:spPr>
          <a:xfrm>
            <a:off x="1005840" y="1691640"/>
            <a:ext cx="534924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・移動すると、進行方向で時間波が詰まって見える（有効P↑）</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・後方では伸びて見える（有効P↓）→ 前後非対称になる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・内部波（時計）は位相整合を保つための調整が増える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・結果：外部観測では、移動体の刻みがゆっくりに見える</a:t>
            </a:r>
            <a:endParaRPr lang="en-US" sz="1400" dirty="0"/>
          </a:p>
        </p:txBody>
      </p:sp>
      <p:sp>
        <p:nvSpPr>
          <p:cNvPr id="10" name="Shape 8"/>
          <p:cNvSpPr/>
          <p:nvPr/>
        </p:nvSpPr>
        <p:spPr>
          <a:xfrm>
            <a:off x="6903720" y="1143000"/>
            <a:ext cx="461772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11" name="Text 9"/>
          <p:cNvSpPr/>
          <p:nvPr/>
        </p:nvSpPr>
        <p:spPr>
          <a:xfrm>
            <a:off x="7178040" y="1344168"/>
            <a:ext cx="406908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光速極限の扱い（この理論の立場）</a:t>
            </a:r>
            <a:endParaRPr lang="en-US" sz="1600" dirty="0"/>
          </a:p>
        </p:txBody>
      </p:sp>
      <p:sp>
        <p:nvSpPr>
          <p:cNvPr id="12" name="Text 10"/>
          <p:cNvSpPr/>
          <p:nvPr/>
        </p:nvSpPr>
        <p:spPr>
          <a:xfrm>
            <a:off x="7223760" y="1691640"/>
            <a:ext cx="397764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・時間は「時間波の更新」として成り立つので、更新そのものは続く</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・速度が上がるほど遅れは極端に大きく見え得るが、無限大を必然とはしない</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・光速での極限挙動は、Pの結合・整合条件を式で詰めて決める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・言葉としては「止まる」より「極端に遅く見える」に寄せる</a:t>
            </a:r>
            <a:endParaRPr lang="en-US" sz="1400" dirty="0"/>
          </a:p>
        </p:txBody>
      </p:sp>
      <p:sp>
        <p:nvSpPr>
          <p:cNvPr id="13" name="Text 11"/>
          <p:cNvSpPr/>
          <p:nvPr/>
        </p:nvSpPr>
        <p:spPr>
          <a:xfrm>
            <a:off x="502920" y="6537960"/>
            <a:ext cx="11185855" cy="228600"/>
          </a:xfrm>
          <a:prstGeom prst="rect">
            <a:avLst/>
          </a:prstGeom>
          <a:noFill/>
          <a:ln/>
        </p:spPr>
        <p:txBody>
          <a:bodyPr wrap="square" rtlCol="0" anchor="ctr"/>
          <a:lstStyle/>
          <a:p>
            <a:pPr marL="0" indent="0">
              <a:buNone/>
            </a:pPr>
            <a:r>
              <a:rPr lang="en-US" sz="1000" dirty="0">
                <a:solidFill>
                  <a:srgbClr val="6F7E9B"/>
                </a:solidFill>
                <a:latin typeface="Yu Gothic" pitchFamily="34" charset="0"/>
                <a:ea typeface="Yu Gothic" pitchFamily="34" charset="-122"/>
                <a:cs typeface="Yu Gothic" pitchFamily="34" charset="-120"/>
              </a:rPr>
              <a:t>In this model, time-wave updating continues; no necessity of infinite dilation.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20040"/>
            <a:ext cx="11155680" cy="457200"/>
          </a:xfrm>
          <a:prstGeom prst="rect">
            <a:avLst/>
          </a:prstGeom>
          <a:noFill/>
          <a:ln/>
        </p:spPr>
        <p:txBody>
          <a:bodyPr wrap="square" rtlCol="0" anchor="ctr"/>
          <a:lstStyle/>
          <a:p>
            <a:pPr marL="0" indent="0">
              <a:buNone/>
            </a:pPr>
            <a:r>
              <a:rPr lang="en-US" sz="2800" b="1" dirty="0">
                <a:solidFill>
                  <a:srgbClr val="E6F1FF"/>
                </a:solidFill>
                <a:latin typeface="Yu Gothic" pitchFamily="34" charset="0"/>
                <a:ea typeface="Yu Gothic" pitchFamily="34" charset="-122"/>
                <a:cs typeface="Yu Gothic" pitchFamily="34" charset="-120"/>
              </a:rPr>
              <a:t>7) ブラックホール：Pが極端になり外向きモードが崩れる</a:t>
            </a:r>
            <a:endParaRPr lang="en-US" sz="2800" dirty="0"/>
          </a:p>
        </p:txBody>
      </p:sp>
      <p:sp>
        <p:nvSpPr>
          <p:cNvPr id="3" name="Shape 1"/>
          <p:cNvSpPr/>
          <p:nvPr/>
        </p:nvSpPr>
        <p:spPr>
          <a:xfrm>
            <a:off x="548640" y="868680"/>
            <a:ext cx="11155680" cy="36576"/>
          </a:xfrm>
          <a:prstGeom prst="rect">
            <a:avLst/>
          </a:prstGeom>
          <a:solidFill>
            <a:srgbClr val="2DD4BF"/>
          </a:solidFill>
          <a:ln w="12700">
            <a:solidFill>
              <a:srgbClr val="2DD4BF"/>
            </a:solidFill>
            <a:prstDash val="solid"/>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1097280"/>
            <a:ext cx="11155680" cy="5166360"/>
          </a:xfrm>
          <a:prstGeom prst="rect">
            <a:avLst/>
          </a:prstGeom>
        </p:spPr>
      </p:pic>
      <p:sp>
        <p:nvSpPr>
          <p:cNvPr id="5" name="Shape 2"/>
          <p:cNvSpPr/>
          <p:nvPr/>
        </p:nvSpPr>
        <p:spPr>
          <a:xfrm>
            <a:off x="548640" y="5669280"/>
            <a:ext cx="11155680" cy="594360"/>
          </a:xfrm>
          <a:prstGeom prst="roundRect">
            <a:avLst/>
          </a:prstGeom>
          <a:solidFill>
            <a:srgbClr val="111A33"/>
          </a:solidFill>
          <a:ln w="12700">
            <a:solidFill>
              <a:srgbClr val="223055">
                <a:alpha val="85000"/>
              </a:srgbClr>
            </a:solidFill>
            <a:prstDash val="solid"/>
          </a:ln>
          <a:effectLst>
            <a:outerShdw blurRad="50800" dist="25400" dir="2700000" algn="bl" rotWithShape="0">
              <a:srgbClr val="000000">
                <a:alpha val="25000"/>
              </a:srgbClr>
            </a:outerShdw>
          </a:effectLst>
        </p:spPr>
      </p:sp>
      <p:sp>
        <p:nvSpPr>
          <p:cNvPr id="6" name="Text 3"/>
          <p:cNvSpPr/>
          <p:nvPr/>
        </p:nvSpPr>
        <p:spPr>
          <a:xfrm>
            <a:off x="822960" y="5779008"/>
            <a:ext cx="10607040" cy="320040"/>
          </a:xfrm>
          <a:prstGeom prst="rect">
            <a:avLst/>
          </a:prstGeom>
          <a:noFill/>
          <a:ln/>
        </p:spPr>
        <p:txBody>
          <a:bodyPr wrap="square" rtlCol="0" anchor="ctr"/>
          <a:lstStyle/>
          <a:p>
            <a:pPr marL="0" indent="0">
              <a:buNone/>
            </a:pPr>
            <a:r>
              <a:rPr lang="en-US" sz="1500" dirty="0">
                <a:solidFill>
                  <a:srgbClr val="E6F1FF"/>
                </a:solidFill>
                <a:latin typeface="Yu Gothic" pitchFamily="34" charset="0"/>
                <a:ea typeface="Yu Gothic" pitchFamily="34" charset="-122"/>
                <a:cs typeface="Yu Gothic" pitchFamily="34" charset="-120"/>
              </a:rPr>
              <a:t>まとめ：質量→P分布、P勾配→重力、運動→有効Pの前後差、極端なP→外向き経路の消失（ブラックホール）</a:t>
            </a:r>
            <a:endParaRPr lang="en-US" sz="1500" dirty="0"/>
          </a:p>
        </p:txBody>
      </p:sp>
      <p:sp>
        <p:nvSpPr>
          <p:cNvPr id="7" name="Text 4"/>
          <p:cNvSpPr/>
          <p:nvPr/>
        </p:nvSpPr>
        <p:spPr>
          <a:xfrm>
            <a:off x="548640" y="6446520"/>
            <a:ext cx="11155680" cy="274320"/>
          </a:xfrm>
          <a:prstGeom prst="rect">
            <a:avLst/>
          </a:prstGeom>
          <a:noFill/>
          <a:ln/>
        </p:spPr>
        <p:txBody>
          <a:bodyPr wrap="square" rtlCol="0" anchor="ctr"/>
          <a:lstStyle/>
          <a:p>
            <a:pPr marL="0" indent="0">
              <a:buNone/>
            </a:pPr>
            <a:r>
              <a:rPr lang="en-US" sz="1100" dirty="0">
                <a:solidFill>
                  <a:srgbClr val="9FB3C8"/>
                </a:solidFill>
                <a:latin typeface="Yu Gothic" pitchFamily="34" charset="0"/>
                <a:ea typeface="Yu Gothic" pitchFamily="34" charset="-122"/>
                <a:cs typeface="Yu Gothic" pitchFamily="34" charset="-120"/>
              </a:rPr>
              <a:t>次の一歩：P(r)の形と、安定点ドリフトの条件を数式化</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C18"/>
          </a:solidFill>
          <a:ln w="12700">
            <a:solidFill>
              <a:srgbClr val="070C18"/>
            </a:solidFill>
            <a:prstDash val="solid"/>
          </a:ln>
        </p:spPr>
      </p:sp>
      <p:sp>
        <p:nvSpPr>
          <p:cNvPr id="3" name="Shape 1"/>
          <p:cNvSpPr/>
          <p:nvPr/>
        </p:nvSpPr>
        <p:spPr>
          <a:xfrm>
            <a:off x="0" y="0"/>
            <a:ext cx="12191695" cy="658368"/>
          </a:xfrm>
          <a:prstGeom prst="rect">
            <a:avLst/>
          </a:prstGeom>
          <a:solidFill>
            <a:srgbClr val="050A14"/>
          </a:solidFill>
          <a:ln w="12700">
            <a:solidFill>
              <a:srgbClr val="050A14"/>
            </a:solidFill>
            <a:prstDash val="solid"/>
          </a:ln>
        </p:spPr>
      </p:sp>
      <p:sp>
        <p:nvSpPr>
          <p:cNvPr id="4" name="Shape 2"/>
          <p:cNvSpPr/>
          <p:nvPr/>
        </p:nvSpPr>
        <p:spPr>
          <a:xfrm>
            <a:off x="502920" y="658368"/>
            <a:ext cx="11185855" cy="45720"/>
          </a:xfrm>
          <a:prstGeom prst="rect">
            <a:avLst/>
          </a:prstGeom>
          <a:solidFill>
            <a:srgbClr val="19E3C5"/>
          </a:solidFill>
          <a:ln w="12700">
            <a:solidFill>
              <a:srgbClr val="19E3C5"/>
            </a:solidFill>
            <a:prstDash val="solid"/>
          </a:ln>
        </p:spPr>
      </p:sp>
      <p:sp>
        <p:nvSpPr>
          <p:cNvPr id="5" name="Text 3"/>
          <p:cNvSpPr/>
          <p:nvPr/>
        </p:nvSpPr>
        <p:spPr>
          <a:xfrm>
            <a:off x="502920" y="109728"/>
            <a:ext cx="11185855" cy="292608"/>
          </a:xfrm>
          <a:prstGeom prst="rect">
            <a:avLst/>
          </a:prstGeom>
          <a:noFill/>
          <a:ln/>
        </p:spPr>
        <p:txBody>
          <a:bodyPr wrap="square" rtlCol="0" anchor="ctr"/>
          <a:lstStyle/>
          <a:p>
            <a:pPr marL="0" indent="0">
              <a:buNone/>
            </a:pPr>
            <a:r>
              <a:rPr lang="en-US" sz="2800" b="1" dirty="0">
                <a:solidFill>
                  <a:srgbClr val="EAF2FF"/>
                </a:solidFill>
                <a:latin typeface="Yu Gothic" pitchFamily="34" charset="0"/>
                <a:ea typeface="Yu Gothic" pitchFamily="34" charset="-122"/>
                <a:cs typeface="Yu Gothic" pitchFamily="34" charset="-120"/>
              </a:rPr>
              <a:t>補足⑦：ブラックホール＝「外向きモードが成立しない領域」</a:t>
            </a:r>
            <a:endParaRPr lang="en-US" sz="2800" dirty="0"/>
          </a:p>
        </p:txBody>
      </p:sp>
      <p:sp>
        <p:nvSpPr>
          <p:cNvPr id="6" name="Text 4"/>
          <p:cNvSpPr/>
          <p:nvPr/>
        </p:nvSpPr>
        <p:spPr>
          <a:xfrm>
            <a:off x="502920" y="420624"/>
            <a:ext cx="11185855" cy="219456"/>
          </a:xfrm>
          <a:prstGeom prst="rect">
            <a:avLst/>
          </a:prstGeom>
          <a:noFill/>
          <a:ln/>
        </p:spPr>
        <p:txBody>
          <a:bodyPr wrap="square" rtlCol="0" anchor="ctr"/>
          <a:lstStyle/>
          <a:p>
            <a:pPr marL="0" indent="0">
              <a:buNone/>
            </a:pPr>
            <a:r>
              <a:rPr lang="en-US" sz="1400" dirty="0">
                <a:solidFill>
                  <a:srgbClr val="A9B7D0"/>
                </a:solidFill>
                <a:latin typeface="Yu Gothic" pitchFamily="34" charset="0"/>
                <a:ea typeface="Yu Gothic" pitchFamily="34" charset="-122"/>
                <a:cs typeface="Yu Gothic" pitchFamily="34" charset="-120"/>
              </a:rPr>
              <a:t>速度ではなく“モードの成立条件”で語る</a:t>
            </a:r>
            <a:endParaRPr lang="en-US" sz="1400" dirty="0"/>
          </a:p>
        </p:txBody>
      </p:sp>
      <p:sp>
        <p:nvSpPr>
          <p:cNvPr id="7" name="Shape 5"/>
          <p:cNvSpPr/>
          <p:nvPr/>
        </p:nvSpPr>
        <p:spPr>
          <a:xfrm>
            <a:off x="685800" y="1143000"/>
            <a:ext cx="612648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8" name="Text 6"/>
          <p:cNvSpPr/>
          <p:nvPr/>
        </p:nvSpPr>
        <p:spPr>
          <a:xfrm>
            <a:off x="960120" y="1344168"/>
            <a:ext cx="557784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このモデルでの言い方</a:t>
            </a:r>
            <a:endParaRPr lang="en-US" sz="1600" dirty="0"/>
          </a:p>
        </p:txBody>
      </p:sp>
      <p:sp>
        <p:nvSpPr>
          <p:cNvPr id="9" name="Text 7"/>
          <p:cNvSpPr/>
          <p:nvPr/>
        </p:nvSpPr>
        <p:spPr>
          <a:xfrm>
            <a:off x="1005840" y="1691640"/>
            <a:ext cx="548640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・質量が極端に大きいと、中心近傍でPの歪みが極端になる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・ある境界の内側では、外向きに位相整合できるモードが成立しない</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・結果として、光も情報も外へ出る経路がなくなる</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・この境界が“地平線”に相当する</a:t>
            </a:r>
            <a:endParaRPr lang="en-US" sz="1400" dirty="0"/>
          </a:p>
        </p:txBody>
      </p:sp>
      <p:sp>
        <p:nvSpPr>
          <p:cNvPr id="10" name="Shape 8"/>
          <p:cNvSpPr/>
          <p:nvPr/>
        </p:nvSpPr>
        <p:spPr>
          <a:xfrm>
            <a:off x="7040880" y="1143000"/>
            <a:ext cx="4480560" cy="5120640"/>
          </a:xfrm>
          <a:prstGeom prst="roundRect">
            <a:avLst/>
          </a:prstGeom>
          <a:solidFill>
            <a:srgbClr val="0D152A"/>
          </a:solidFill>
          <a:ln w="12700">
            <a:solidFill>
              <a:srgbClr val="1E2E55"/>
            </a:solidFill>
            <a:prstDash val="solid"/>
          </a:ln>
          <a:effectLst>
            <a:outerShdw blurRad="63500" dist="25400" dir="2700000" algn="bl" rotWithShape="0">
              <a:srgbClr val="000000">
                <a:alpha val="35000"/>
              </a:srgbClr>
            </a:outerShdw>
          </a:effectLst>
        </p:spPr>
      </p:sp>
      <p:sp>
        <p:nvSpPr>
          <p:cNvPr id="11" name="Text 9"/>
          <p:cNvSpPr/>
          <p:nvPr/>
        </p:nvSpPr>
        <p:spPr>
          <a:xfrm>
            <a:off x="7315200" y="1344168"/>
            <a:ext cx="3931920" cy="274320"/>
          </a:xfrm>
          <a:prstGeom prst="rect">
            <a:avLst/>
          </a:prstGeom>
          <a:noFill/>
          <a:ln/>
        </p:spPr>
        <p:txBody>
          <a:bodyPr wrap="square" rtlCol="0" anchor="ctr"/>
          <a:lstStyle/>
          <a:p>
            <a:pPr marL="0" indent="0">
              <a:buNone/>
            </a:pPr>
            <a:r>
              <a:rPr lang="en-US" sz="1600" b="1" dirty="0">
                <a:solidFill>
                  <a:srgbClr val="EAF2FF"/>
                </a:solidFill>
                <a:latin typeface="Yu Gothic" pitchFamily="34" charset="0"/>
                <a:ea typeface="Yu Gothic" pitchFamily="34" charset="-122"/>
                <a:cs typeface="Yu Gothic" pitchFamily="34" charset="-120"/>
              </a:rPr>
              <a:t>補足（表現の意図）</a:t>
            </a:r>
            <a:endParaRPr lang="en-US" sz="1600" dirty="0"/>
          </a:p>
        </p:txBody>
      </p:sp>
      <p:sp>
        <p:nvSpPr>
          <p:cNvPr id="12" name="Text 10"/>
          <p:cNvSpPr/>
          <p:nvPr/>
        </p:nvSpPr>
        <p:spPr>
          <a:xfrm>
            <a:off x="7360920" y="1691640"/>
            <a:ext cx="3840480" cy="4297680"/>
          </a:xfrm>
          <a:prstGeom prst="rect">
            <a:avLst/>
          </a:prstGeom>
          <a:noFill/>
          <a:ln/>
        </p:spPr>
        <p:txBody>
          <a:bodyPr wrap="square" rtlCol="0" anchor="t"/>
          <a:lstStyle/>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・「吸い込み速度が光速を超える」とは言わない</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・“外へ出るモードが壊れる”と表現する方が理屈を保ちやすい</a:t>
            </a:r>
            <a:endParaRPr lang="en-US" sz="1400" dirty="0"/>
          </a:p>
          <a:p>
            <a:pPr marL="0" indent="0">
              <a:lnSpc>
                <a:spcPct val="112000"/>
              </a:lnSpc>
              <a:buNone/>
            </a:pPr>
            <a:r>
              <a:rPr lang="en-US" sz="1400" dirty="0">
                <a:solidFill>
                  <a:srgbClr val="D7E2F3"/>
                </a:solidFill>
                <a:latin typeface="Yu Gothic" pitchFamily="34" charset="0"/>
                <a:ea typeface="Yu Gothic" pitchFamily="34" charset="-122"/>
                <a:cs typeface="Yu Gothic" pitchFamily="34" charset="-120"/>
              </a:rPr>
              <a:t>・境界条件の定義は後で式に落とす（現段階は概念の骨格）</a:t>
            </a:r>
            <a:endParaRPr lang="en-US" sz="1400" dirty="0"/>
          </a:p>
        </p:txBody>
      </p:sp>
      <p:sp>
        <p:nvSpPr>
          <p:cNvPr id="13" name="Text 11"/>
          <p:cNvSpPr/>
          <p:nvPr/>
        </p:nvSpPr>
        <p:spPr>
          <a:xfrm>
            <a:off x="502920" y="6537960"/>
            <a:ext cx="11185855" cy="228600"/>
          </a:xfrm>
          <a:prstGeom prst="rect">
            <a:avLst/>
          </a:prstGeom>
          <a:noFill/>
          <a:ln/>
        </p:spPr>
        <p:txBody>
          <a:bodyPr wrap="square" rtlCol="0" anchor="ctr"/>
          <a:lstStyle/>
          <a:p>
            <a:pPr marL="0" indent="0">
              <a:buNone/>
            </a:pPr>
            <a:r>
              <a:rPr lang="en-US" sz="1000" dirty="0">
                <a:solidFill>
                  <a:srgbClr val="6F7E9B"/>
                </a:solidFill>
                <a:latin typeface="Yu Gothic" pitchFamily="34" charset="0"/>
                <a:ea typeface="Yu Gothic" pitchFamily="34" charset="-122"/>
                <a:cs typeface="Yu Gothic" pitchFamily="34" charset="-120"/>
              </a:rPr>
              <a:t>Black hole = region where outward-propagating modes cannot exist.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548640"/>
          </a:xfrm>
          <a:prstGeom prst="rect">
            <a:avLst/>
          </a:prstGeom>
          <a:noFill/>
        </p:spPr>
        <p:txBody>
          <a:bodyPr wrap="none">
            <a:spAutoFit/>
          </a:bodyPr>
          <a:lstStyle/>
          <a:p>
            <a:pPr algn="l"/>
            <a:r>
              <a:rPr sz="2800" b="1"/>
              <a:t>Cassini検証：Shapiro遅延・Doppler波形（β≃1）</a:t>
            </a:r>
          </a:p>
        </p:txBody>
      </p:sp>
      <p:sp>
        <p:nvSpPr>
          <p:cNvPr id="3" name="Rectangle 2"/>
          <p:cNvSpPr/>
          <p:nvPr/>
        </p:nvSpPr>
        <p:spPr>
          <a:xfrm>
            <a:off x="548640" y="868680"/>
            <a:ext cx="11064240" cy="2743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51560"/>
            <a:ext cx="10607040" cy="4206240"/>
          </a:xfrm>
          <a:prstGeom prst="rect">
            <a:avLst/>
          </a:prstGeom>
          <a:noFill/>
        </p:spPr>
        <p:txBody>
          <a:bodyPr wrap="square">
            <a:spAutoFit/>
          </a:bodyPr>
          <a:lstStyle/>
          <a:p>
            <a:pPr>
              <a:defRPr sz="1600"/>
            </a:pPr>
            <a:r>
              <a:t>目的：惑星間スケール（太陽会合）で、光伝播モデルが実測と矛盾しないか確認</a:t>
            </a:r>
          </a:p>
          <a:p>
            <a:pPr>
              <a:defRPr sz="1600"/>
            </a:pPr>
            <a:r>
              <a:t>Cassini論文の近似式（往復）を使用：</a:t>
            </a:r>
          </a:p>
          <a:p>
            <a:pPr>
              <a:defRPr sz="1600"/>
            </a:pPr>
            <a:r>
              <a:t>  Δt = 2(1+γ)·(GM☉/c³)·ln(4 r1 r2 / b²)</a:t>
            </a:r>
          </a:p>
          <a:p>
            <a:pPr>
              <a:defRPr sz="1600"/>
            </a:pPr>
            <a:r>
              <a:t>  y = d(Δt)/dt ≈ 4(1+γ)·(GM☉/c³)·(1/b)·db/dt</a:t>
            </a:r>
          </a:p>
          <a:p>
            <a:pPr>
              <a:defRPr sz="1600"/>
            </a:pPr>
            <a:r>
              <a:t>P-model側：光への効き方 β を導入し、Cassini拘束により β ≃ (1+γ)/2 ≃ 1 に固定</a:t>
            </a:r>
          </a:p>
          <a:p>
            <a:pPr>
              <a:defRPr sz="1600"/>
            </a:pPr>
            <a:r>
              <a:t>HORIZONS（Earth=399, Cassini=-82）より幾何を取得し、b(t), Δt(t), y(t) を算出（1分刻み）</a:t>
            </a:r>
          </a:p>
        </p:txBody>
      </p:sp>
      <p:sp>
        <p:nvSpPr>
          <p:cNvPr id="5" name="TextBox 4"/>
          <p:cNvSpPr txBox="1"/>
          <p:nvPr/>
        </p:nvSpPr>
        <p:spPr>
          <a:xfrm>
            <a:off x="731520" y="4663440"/>
            <a:ext cx="10607040" cy="1645920"/>
          </a:xfrm>
          <a:prstGeom prst="rect">
            <a:avLst/>
          </a:prstGeom>
          <a:noFill/>
        </p:spPr>
        <p:txBody>
          <a:bodyPr wrap="square">
            <a:spAutoFit/>
          </a:bodyPr>
          <a:lstStyle/>
          <a:p>
            <a:pPr>
              <a:defRPr sz="1600"/>
            </a:pPr>
            <a:r>
              <a:t>主な結果（γ=1で計算）</a:t>
            </a:r>
          </a:p>
          <a:p>
            <a:pPr>
              <a:defRPr sz="1600"/>
            </a:pPr>
            <a:r>
              <a:t>  b_min = 1.667 R☉（2002-06-21 13:07 UTC）</a:t>
            </a:r>
          </a:p>
          <a:p>
            <a:pPr>
              <a:defRPr sz="1600"/>
            </a:pPr>
            <a:r>
              <a:t>  Δt（往復）= 126.1〜258.6 μs</a:t>
            </a:r>
          </a:p>
          <a:p>
            <a:pPr>
              <a:defRPr sz="1600"/>
            </a:pPr>
            <a:r>
              <a:t>  |y|_peak ≈ 4.25×10⁻¹⁰（会合中心ではゼロ交差）</a:t>
            </a:r>
          </a:p>
        </p:txBody>
      </p:sp>
      <p:sp>
        <p:nvSpPr>
          <p:cNvPr id="6" name="TextBox 5"/>
          <p:cNvSpPr txBox="1"/>
          <p:nvPr/>
        </p:nvSpPr>
        <p:spPr>
          <a:xfrm>
            <a:off x="548640" y="6355080"/>
            <a:ext cx="11064240" cy="365760"/>
          </a:xfrm>
          <a:prstGeom prst="rect">
            <a:avLst/>
          </a:prstGeom>
          <a:noFill/>
        </p:spPr>
        <p:txBody>
          <a:bodyPr wrap="none">
            <a:spAutoFit/>
          </a:bodyPr>
          <a:lstStyle/>
          <a:p>
            <a:pPr>
              <a:defRPr sz="1100">
                <a:solidFill>
                  <a:srgbClr val="5A5A5A"/>
                </a:solidFill>
              </a:defRPr>
            </a:pPr>
            <a:r>
              <a:t>注：y は会合中心（b最小）で db/dt ≈ 0 となるためゼロ交差し、ピークは前後の肩で生じる。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548640"/>
          </a:xfrm>
          <a:prstGeom prst="rect">
            <a:avLst/>
          </a:prstGeom>
          <a:noFill/>
        </p:spPr>
        <p:txBody>
          <a:bodyPr wrap="none">
            <a:spAutoFit/>
          </a:bodyPr>
          <a:lstStyle/>
          <a:p>
            <a:pPr algn="l"/>
            <a:r>
              <a:rPr sz="2800" b="1"/>
              <a:t>結果：会合中心で揃えた波形（b, Δt, y）</a:t>
            </a:r>
          </a:p>
        </p:txBody>
      </p:sp>
      <p:pic>
        <p:nvPicPr>
          <p:cNvPr id="3" name="Picture 2" descr="cassini_compare_style.png"/>
          <p:cNvPicPr>
            <a:picLocks noChangeAspect="1"/>
          </p:cNvPicPr>
          <p:nvPr/>
        </p:nvPicPr>
        <p:blipFill>
          <a:blip r:embed="rId2"/>
          <a:stretch>
            <a:fillRect/>
          </a:stretch>
        </p:blipFill>
        <p:spPr>
          <a:xfrm>
            <a:off x="548640" y="914400"/>
            <a:ext cx="11064240" cy="5669280"/>
          </a:xfrm>
          <a:prstGeom prst="rect">
            <a:avLst/>
          </a:prstGeom>
        </p:spPr>
      </p:pic>
      <p:sp>
        <p:nvSpPr>
          <p:cNvPr id="4" name="TextBox 3"/>
          <p:cNvSpPr txBox="1"/>
          <p:nvPr/>
        </p:nvSpPr>
        <p:spPr>
          <a:xfrm>
            <a:off x="548640" y="6446520"/>
            <a:ext cx="11064240" cy="365760"/>
          </a:xfrm>
          <a:prstGeom prst="rect">
            <a:avLst/>
          </a:prstGeom>
          <a:noFill/>
        </p:spPr>
        <p:txBody>
          <a:bodyPr wrap="none">
            <a:spAutoFit/>
          </a:bodyPr>
          <a:lstStyle/>
          <a:p>
            <a:pPr>
              <a:defRPr sz="1100">
                <a:solidFill>
                  <a:srgbClr val="5A5A5A"/>
                </a:solidFill>
              </a:defRPr>
            </a:pPr>
            <a:r>
              <a:t>出力：cassini_shapiro_y_full.csv から作図（会合中心 t0 = b_min で時間軸を整列）</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548640"/>
          </a:xfrm>
          <a:prstGeom prst="rect">
            <a:avLst/>
          </a:prstGeom>
          <a:noFill/>
        </p:spPr>
        <p:txBody>
          <a:bodyPr wrap="none">
            <a:spAutoFit/>
          </a:bodyPr>
          <a:lstStyle/>
          <a:p>
            <a:pPr algn="l"/>
            <a:r>
              <a:rPr sz="2800" b="1"/>
              <a:t>結果：Doppler y(t) のズーム（±72時間）</a:t>
            </a:r>
          </a:p>
        </p:txBody>
      </p:sp>
      <p:pic>
        <p:nvPicPr>
          <p:cNvPr id="3" name="Picture 2" descr="cassini_compare_zoom.png"/>
          <p:cNvPicPr>
            <a:picLocks noChangeAspect="1"/>
          </p:cNvPicPr>
          <p:nvPr/>
        </p:nvPicPr>
        <p:blipFill>
          <a:blip r:embed="rId2"/>
          <a:stretch>
            <a:fillRect/>
          </a:stretch>
        </p:blipFill>
        <p:spPr>
          <a:xfrm>
            <a:off x="548640" y="914400"/>
            <a:ext cx="11064240" cy="5669280"/>
          </a:xfrm>
          <a:prstGeom prst="rect">
            <a:avLst/>
          </a:prstGeom>
        </p:spPr>
      </p:pic>
      <p:sp>
        <p:nvSpPr>
          <p:cNvPr id="4" name="TextBox 3"/>
          <p:cNvSpPr txBox="1"/>
          <p:nvPr/>
        </p:nvSpPr>
        <p:spPr>
          <a:xfrm>
            <a:off x="548640" y="6446520"/>
            <a:ext cx="11064240" cy="365760"/>
          </a:xfrm>
          <a:prstGeom prst="rect">
            <a:avLst/>
          </a:prstGeom>
          <a:noFill/>
        </p:spPr>
        <p:txBody>
          <a:bodyPr wrap="none">
            <a:spAutoFit/>
          </a:bodyPr>
          <a:lstStyle/>
          <a:p>
            <a:pPr>
              <a:defRPr sz="1100">
                <a:solidFill>
                  <a:srgbClr val="5A5A5A"/>
                </a:solidFill>
              </a:defRPr>
            </a:pPr>
            <a:r>
              <a:t>ピークは b_min ではなく、その前後（|db/dt| が最大となる付近）で生じる。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548640"/>
          </a:xfrm>
          <a:prstGeom prst="rect">
            <a:avLst/>
          </a:prstGeom>
          <a:noFill/>
        </p:spPr>
        <p:txBody>
          <a:bodyPr wrap="none">
            <a:spAutoFit/>
          </a:bodyPr>
          <a:lstStyle/>
          <a:p>
            <a:pPr algn="l"/>
            <a:r>
              <a:rPr sz="2800" b="1"/>
              <a:t>検証まとめ：P-modelの正当性として確認できる点</a:t>
            </a:r>
          </a:p>
        </p:txBody>
      </p:sp>
      <p:sp>
        <p:nvSpPr>
          <p:cNvPr id="3" name="Rectangle 2"/>
          <p:cNvSpPr/>
          <p:nvPr/>
        </p:nvSpPr>
        <p:spPr>
          <a:xfrm>
            <a:off x="548640" y="868680"/>
            <a:ext cx="11064240" cy="2743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10607040" cy="3840480"/>
          </a:xfrm>
          <a:prstGeom prst="rect">
            <a:avLst/>
          </a:prstGeom>
          <a:noFill/>
        </p:spPr>
        <p:txBody>
          <a:bodyPr wrap="square">
            <a:spAutoFit/>
          </a:bodyPr>
          <a:lstStyle/>
          <a:p>
            <a:pPr>
              <a:defRPr sz="1600"/>
            </a:pPr>
            <a:r>
              <a:t>会合幾何が整合：b_min が 1.6R☉級で 2002/6/21 付近に出現（対象・中心の取り違えがない）</a:t>
            </a:r>
          </a:p>
          <a:p>
            <a:pPr>
              <a:defRPr sz="1600"/>
            </a:pPr>
            <a:r>
              <a:t>Shapiro遅延 Δt(t) がログ形に対応する山形で再現（会合中心で最大、前後で減衰）</a:t>
            </a:r>
          </a:p>
          <a:p>
            <a:pPr>
              <a:defRPr sz="1600"/>
            </a:pPr>
            <a:r>
              <a:t>Doppler y(t) が S字＋ゼロ交差＋前後ピーク（符号反転）という決定的特徴を再現</a:t>
            </a:r>
          </a:p>
          <a:p>
            <a:pPr>
              <a:defRPr sz="1600"/>
            </a:pPr>
            <a:r>
              <a:t>振幅が 10⁻¹⁰ オーダーで整合領域にあり、桁違いの不一致はない</a:t>
            </a:r>
          </a:p>
          <a:p>
            <a:pPr>
              <a:defRPr sz="1600"/>
            </a:pPr>
            <a:r>
              <a:t>よく引用される ~6×10⁻¹⁰ との差は、ピーク発生時の b が最小値より大きい（1/b依存）ことで説明可能</a:t>
            </a:r>
          </a:p>
        </p:txBody>
      </p:sp>
      <p:sp>
        <p:nvSpPr>
          <p:cNvPr id="5" name="TextBox 4"/>
          <p:cNvSpPr txBox="1"/>
          <p:nvPr/>
        </p:nvSpPr>
        <p:spPr>
          <a:xfrm>
            <a:off x="731520" y="5029200"/>
            <a:ext cx="10607040" cy="1463040"/>
          </a:xfrm>
          <a:prstGeom prst="rect">
            <a:avLst/>
          </a:prstGeom>
          <a:noFill/>
        </p:spPr>
        <p:txBody>
          <a:bodyPr wrap="square">
            <a:spAutoFit/>
          </a:bodyPr>
          <a:lstStyle/>
          <a:p>
            <a:pPr>
              <a:defRPr sz="1500"/>
            </a:pPr>
            <a:r>
              <a:t>次に強い比較（推奨）</a:t>
            </a:r>
          </a:p>
          <a:p>
            <a:pPr>
              <a:defRPr sz="1500"/>
            </a:pPr>
            <a:r>
              <a:t>  ・論文Fig.2の観測曲線をデジタイズして重ね合わせ（波形幅・左右対称・ピーク位置まで定量評価）</a:t>
            </a:r>
          </a:p>
          <a:p>
            <a:pPr>
              <a:defRPr sz="1500"/>
            </a:pPr>
            <a:r>
              <a:t>  ・β（= (1+γ)/2）を 1±1e-5 の範囲で振り、Cassini拘束内で波形が変わらないことを示す</a:t>
            </a:r>
          </a:p>
        </p:txBody>
      </p:sp>
      <p:sp>
        <p:nvSpPr>
          <p:cNvPr id="6" name="TextBox 5"/>
          <p:cNvSpPr txBox="1"/>
          <p:nvPr/>
        </p:nvSpPr>
        <p:spPr>
          <a:xfrm>
            <a:off x="548640" y="6446520"/>
            <a:ext cx="11064240" cy="365760"/>
          </a:xfrm>
          <a:prstGeom prst="rect">
            <a:avLst/>
          </a:prstGeom>
          <a:noFill/>
        </p:spPr>
        <p:txBody>
          <a:bodyPr wrap="none">
            <a:spAutoFit/>
          </a:bodyPr>
          <a:lstStyle/>
          <a:p>
            <a:pPr>
              <a:defRPr sz="1100">
                <a:solidFill>
                  <a:srgbClr val="5A5A5A"/>
                </a:solidFill>
              </a:defRPr>
            </a:pPr>
            <a:r>
              <a:t>備考：ここでは“理論波形の整合”を確認。生データ（PDS）で残差まで追う場合は、コロナ補正・DSN局・軌道決定モデルを含めた解析が必要。</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0972800" cy="548640"/>
          </a:xfrm>
          <a:prstGeom prst="rect">
            <a:avLst/>
          </a:prstGeom>
          <a:noFill/>
        </p:spPr>
        <p:txBody>
          <a:bodyPr wrap="none">
            <a:spAutoFit/>
          </a:bodyPr>
          <a:lstStyle/>
          <a:p>
            <a:pPr>
              <a:defRPr sz="2800" b="1"/>
            </a:pPr>
            <a:r>
              <a:t>Cassini (Nature Fig.2) デジタイズ vs P-model：全体</a:t>
            </a:r>
          </a:p>
        </p:txBody>
      </p:sp>
      <p:pic>
        <p:nvPicPr>
          <p:cNvPr id="3" name="Picture 2" descr="cassini_fig2_overlay_full.png"/>
          <p:cNvPicPr>
            <a:picLocks noChangeAspect="1"/>
          </p:cNvPicPr>
          <p:nvPr/>
        </p:nvPicPr>
        <p:blipFill>
          <a:blip r:embed="rId2"/>
          <a:stretch>
            <a:fillRect/>
          </a:stretch>
        </p:blipFill>
        <p:spPr>
          <a:xfrm>
            <a:off x="548640" y="960120"/>
            <a:ext cx="11155680" cy="55778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0972800" cy="548640"/>
          </a:xfrm>
          <a:prstGeom prst="rect">
            <a:avLst/>
          </a:prstGeom>
          <a:noFill/>
        </p:spPr>
        <p:txBody>
          <a:bodyPr wrap="none">
            <a:spAutoFit/>
          </a:bodyPr>
          <a:lstStyle/>
          <a:p>
            <a:pPr>
              <a:defRPr sz="2800" b="1"/>
            </a:pPr>
            <a:r>
              <a:t>Cassini (Nature Fig.2) デジタイズ vs P-model：±10日ズーム</a:t>
            </a:r>
          </a:p>
        </p:txBody>
      </p:sp>
      <p:pic>
        <p:nvPicPr>
          <p:cNvPr id="3" name="Picture 2" descr="cassini_fig2_overlay_zoom10d.png"/>
          <p:cNvPicPr>
            <a:picLocks noChangeAspect="1"/>
          </p:cNvPicPr>
          <p:nvPr/>
        </p:nvPicPr>
        <p:blipFill>
          <a:blip r:embed="rId2"/>
          <a:stretch>
            <a:fillRect/>
          </a:stretch>
        </p:blipFill>
        <p:spPr>
          <a:xfrm>
            <a:off x="548640" y="960120"/>
            <a:ext cx="11155680" cy="55778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0972800" cy="548640"/>
          </a:xfrm>
          <a:prstGeom prst="rect">
            <a:avLst/>
          </a:prstGeom>
          <a:noFill/>
        </p:spPr>
        <p:txBody>
          <a:bodyPr wrap="none">
            <a:spAutoFit/>
          </a:bodyPr>
          <a:lstStyle/>
          <a:p>
            <a:pPr>
              <a:defRPr sz="2800" b="1"/>
            </a:pPr>
            <a:r>
              <a:t>Cassini 残差（デジタイズ − P-model）</a:t>
            </a:r>
          </a:p>
        </p:txBody>
      </p:sp>
      <p:pic>
        <p:nvPicPr>
          <p:cNvPr id="3" name="Picture 2" descr="cassini_fig2_residuals.png"/>
          <p:cNvPicPr>
            <a:picLocks noChangeAspect="1"/>
          </p:cNvPicPr>
          <p:nvPr/>
        </p:nvPicPr>
        <p:blipFill>
          <a:blip r:embed="rId2"/>
          <a:stretch>
            <a:fillRect/>
          </a:stretch>
        </p:blipFill>
        <p:spPr>
          <a:xfrm>
            <a:off x="548640" y="960120"/>
            <a:ext cx="11155680" cy="5577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0972800" cy="640080"/>
          </a:xfrm>
          <a:prstGeom prst="rect">
            <a:avLst/>
          </a:prstGeom>
          <a:noFill/>
        </p:spPr>
        <p:txBody>
          <a:bodyPr wrap="none">
            <a:spAutoFit/>
          </a:bodyPr>
          <a:lstStyle/>
          <a:p>
            <a:pPr>
              <a:defRPr sz="2800" b="1"/>
            </a:pPr>
            <a:r>
              <a:t>β感度：β=1±1.5×10⁻⁵ の範囲でのRMSE変化</a:t>
            </a:r>
          </a:p>
        </p:txBody>
      </p:sp>
      <p:pic>
        <p:nvPicPr>
          <p:cNvPr id="3" name="Picture 2" descr="cassini_beta_sweep_rmse.png"/>
          <p:cNvPicPr>
            <a:picLocks noChangeAspect="1"/>
          </p:cNvPicPr>
          <p:nvPr/>
        </p:nvPicPr>
        <p:blipFill>
          <a:blip r:embed="rId2"/>
          <a:stretch>
            <a:fillRect/>
          </a:stretch>
        </p:blipFill>
        <p:spPr>
          <a:xfrm>
            <a:off x="548640" y="960120"/>
            <a:ext cx="11155680" cy="5577840"/>
          </a:xfrm>
          <a:prstGeom prst="rect">
            <a:avLst/>
          </a:prstGeom>
        </p:spPr>
      </p:pic>
      <p:sp>
        <p:nvSpPr>
          <p:cNvPr id="4" name="TextBox 3"/>
          <p:cNvSpPr txBox="1"/>
          <p:nvPr/>
        </p:nvSpPr>
        <p:spPr>
          <a:xfrm>
            <a:off x="640080" y="6035040"/>
            <a:ext cx="10972800" cy="822960"/>
          </a:xfrm>
          <a:prstGeom prst="rect">
            <a:avLst/>
          </a:prstGeom>
          <a:noFill/>
        </p:spPr>
        <p:txBody>
          <a:bodyPr wrap="square">
            <a:spAutoFit/>
          </a:bodyPr>
          <a:lstStyle/>
          <a:p>
            <a:pPr>
              <a:defRPr sz="1400"/>
            </a:pPr>
            <a:r>
              <a:t>Cassini拘束: γ≃1±2.3×10⁻⁵ → β≃(1+γ)/2 ≃ 1±1.15×10⁻⁵（振幅の相対変化も同程度）</a:t>
            </a:r>
          </a:p>
          <a:p>
            <a:pPr>
              <a:defRPr sz="1400"/>
            </a:pPr>
            <a:r>
              <a:t>RMSE(all): β=1 → 6.174e-11, β=1.00001500 → 6.174e-11（差 -1.58e-15）</a:t>
            </a:r>
          </a:p>
          <a:p>
            <a:pPr>
              <a:defRPr sz="1400"/>
            </a:pPr>
            <a:r>
              <a:t>RMSE(±10d): β=1 → 7.080e-11, β=1.00001500 → 7.080e-11（差 -1.80e-15）</a:t>
            </a:r>
          </a:p>
          <a:p>
            <a:pPr>
              <a:defRPr sz="1400"/>
            </a:pPr>
            <a:r>
              <a:t>→ 拘束範囲内のβ変動は、デジタイズ/観測ノイズに比べて十分小さく、波形一致の結論を変えない。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0972800" cy="640080"/>
          </a:xfrm>
          <a:prstGeom prst="rect">
            <a:avLst/>
          </a:prstGeom>
          <a:noFill/>
        </p:spPr>
        <p:txBody>
          <a:bodyPr wrap="none">
            <a:spAutoFit/>
          </a:bodyPr>
          <a:lstStyle/>
          <a:p>
            <a:pPr>
              <a:defRPr sz="2800" b="1"/>
            </a:pPr>
            <a:r>
              <a:t>最良βでの重ね合わせ（±10日）</a:t>
            </a:r>
          </a:p>
        </p:txBody>
      </p:sp>
      <p:pic>
        <p:nvPicPr>
          <p:cNvPr id="3" name="Picture 2" descr="cassini_fig2_overlay_bestbeta_zoom10d.png"/>
          <p:cNvPicPr>
            <a:picLocks noChangeAspect="1"/>
          </p:cNvPicPr>
          <p:nvPr/>
        </p:nvPicPr>
        <p:blipFill>
          <a:blip r:embed="rId2"/>
          <a:stretch>
            <a:fillRect/>
          </a:stretch>
        </p:blipFill>
        <p:spPr>
          <a:xfrm>
            <a:off x="548640" y="960120"/>
            <a:ext cx="11155680" cy="5577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1633</Words>
  <Application>Microsoft Office PowerPoint</Application>
  <PresentationFormat>ワイド画面</PresentationFormat>
  <Paragraphs>190</Paragraphs>
  <Slides>24</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24</vt:i4>
      </vt:variant>
    </vt:vector>
  </HeadingPairs>
  <TitlesOfParts>
    <vt:vector size="27"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shunji ogawa</cp:lastModifiedBy>
  <cp:revision>6</cp:revision>
  <dcterms:created xsi:type="dcterms:W3CDTF">2025-12-25T07:42:01Z</dcterms:created>
  <dcterms:modified xsi:type="dcterms:W3CDTF">2025-12-27T02:35:02Z</dcterms:modified>
</cp:coreProperties>
</file>