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4" d="100"/>
          <a:sy n="94" d="100"/>
        </p:scale>
        <p:origin x="84" y="11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155680" cy="523220"/>
          </a:xfrm>
          <a:prstGeom prst="rect">
            <a:avLst/>
          </a:prstGeom>
          <a:noFill/>
        </p:spPr>
        <p:txBody>
          <a:bodyPr wrap="square" anchor="t">
            <a:spAutoFit/>
          </a:bodyPr>
          <a:lstStyle/>
          <a:p>
            <a:pPr algn="l"/>
            <a:r>
              <a:rPr sz="2800" b="1" i="0" dirty="0" err="1">
                <a:solidFill>
                  <a:srgbClr val="1E1E1E"/>
                </a:solidFill>
                <a:latin typeface="Meiryo"/>
              </a:rPr>
              <a:t>時間波密度理論「</a:t>
            </a:r>
            <a:r>
              <a:rPr sz="2800" b="1" i="0" dirty="0" err="1">
                <a:solidFill>
                  <a:schemeClr val="tx2"/>
                </a:solidFill>
                <a:latin typeface="Meiryo"/>
              </a:rPr>
              <a:t>P-model</a:t>
            </a:r>
            <a:r>
              <a:rPr sz="2800" b="1" i="0" dirty="0" err="1">
                <a:solidFill>
                  <a:srgbClr val="1E1E1E"/>
                </a:solidFill>
                <a:latin typeface="Meiryo"/>
              </a:rPr>
              <a:t>」と相対性理論「</a:t>
            </a:r>
            <a:r>
              <a:rPr sz="2800" b="1" i="0" dirty="0" err="1">
                <a:solidFill>
                  <a:srgbClr val="C00000"/>
                </a:solidFill>
                <a:latin typeface="Meiryo"/>
              </a:rPr>
              <a:t>Relativity</a:t>
            </a:r>
            <a:r>
              <a:rPr sz="2800" b="1" i="0" dirty="0" err="1">
                <a:solidFill>
                  <a:srgbClr val="1E1E1E"/>
                </a:solidFill>
                <a:latin typeface="Meiryo"/>
              </a:rPr>
              <a:t>」の違い</a:t>
            </a:r>
            <a:endParaRPr sz="2800" b="1" i="0" dirty="0">
              <a:solidFill>
                <a:srgbClr val="1E1E1E"/>
              </a:solidFill>
              <a:latin typeface="Meiryo"/>
            </a:endParaRPr>
          </a:p>
        </p:txBody>
      </p:sp>
      <p:sp>
        <p:nvSpPr>
          <p:cNvPr id="3" name="Rectangle 2"/>
          <p:cNvSpPr/>
          <p:nvPr/>
        </p:nvSpPr>
        <p:spPr>
          <a:xfrm>
            <a:off x="548640" y="868680"/>
            <a:ext cx="11155680" cy="25400"/>
          </a:xfrm>
          <a:prstGeom prst="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97280" y="1097280"/>
            <a:ext cx="10607040" cy="5212080"/>
          </a:xfrm>
          <a:prstGeom prst="rect">
            <a:avLst/>
          </a:prstGeom>
          <a:noFill/>
          <a:ln w="1524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26080" y="1097280"/>
            <a:ext cx="4389120" cy="731520"/>
          </a:xfrm>
          <a:prstGeom prst="rect">
            <a:avLst/>
          </a:prstGeom>
          <a:solidFill>
            <a:srgbClr val="0A468C"/>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0" y="1097280"/>
            <a:ext cx="4389120" cy="731520"/>
          </a:xfrm>
          <a:prstGeom prst="rect">
            <a:avLst/>
          </a:prstGeom>
          <a:solidFill>
            <a:srgbClr val="AA282D"/>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0" y="1188720"/>
            <a:ext cx="4389120" cy="731520"/>
          </a:xfrm>
          <a:prstGeom prst="rect">
            <a:avLst/>
          </a:prstGeom>
          <a:noFill/>
        </p:spPr>
        <p:txBody>
          <a:bodyPr wrap="square" anchor="t">
            <a:spAutoFit/>
          </a:bodyPr>
          <a:lstStyle/>
          <a:p>
            <a:pPr algn="ctr"/>
            <a:r>
              <a:rPr sz="3600" b="1" i="1" dirty="0">
                <a:solidFill>
                  <a:srgbClr val="FFFFFF"/>
                </a:solidFill>
                <a:latin typeface="Calibri"/>
              </a:rPr>
              <a:t>P-model</a:t>
            </a:r>
          </a:p>
        </p:txBody>
      </p:sp>
      <p:sp>
        <p:nvSpPr>
          <p:cNvPr id="8" name="TextBox 7"/>
          <p:cNvSpPr txBox="1"/>
          <p:nvPr/>
        </p:nvSpPr>
        <p:spPr>
          <a:xfrm>
            <a:off x="7315200" y="1188720"/>
            <a:ext cx="4389120" cy="731520"/>
          </a:xfrm>
          <a:prstGeom prst="rect">
            <a:avLst/>
          </a:prstGeom>
          <a:noFill/>
        </p:spPr>
        <p:txBody>
          <a:bodyPr wrap="square" anchor="t">
            <a:spAutoFit/>
          </a:bodyPr>
          <a:lstStyle/>
          <a:p>
            <a:pPr algn="ctr"/>
            <a:r>
              <a:rPr sz="3600" b="1" i="1">
                <a:solidFill>
                  <a:srgbClr val="FFFFFF"/>
                </a:solidFill>
                <a:latin typeface="Calibri"/>
              </a:rPr>
              <a:t>Relativity</a:t>
            </a:r>
          </a:p>
        </p:txBody>
      </p:sp>
      <p:sp>
        <p:nvSpPr>
          <p:cNvPr id="9" name="TextBox 8"/>
          <p:cNvSpPr txBox="1"/>
          <p:nvPr/>
        </p:nvSpPr>
        <p:spPr>
          <a:xfrm>
            <a:off x="1097280" y="1920240"/>
            <a:ext cx="1828800" cy="2240280"/>
          </a:xfrm>
          <a:prstGeom prst="rect">
            <a:avLst/>
          </a:prstGeom>
          <a:noFill/>
        </p:spPr>
        <p:txBody>
          <a:bodyPr wrap="square" anchor="t">
            <a:spAutoFit/>
          </a:bodyPr>
          <a:lstStyle/>
          <a:p>
            <a:pPr algn="ctr"/>
            <a:r>
              <a:rPr sz="2800" b="1" i="0">
                <a:solidFill>
                  <a:srgbClr val="1E1E1E"/>
                </a:solidFill>
                <a:latin typeface="Meiryo"/>
              </a:rPr>
              <a:t>時間
(速度)</a:t>
            </a:r>
          </a:p>
        </p:txBody>
      </p:sp>
      <p:sp>
        <p:nvSpPr>
          <p:cNvPr id="10" name="TextBox 9"/>
          <p:cNvSpPr txBox="1"/>
          <p:nvPr/>
        </p:nvSpPr>
        <p:spPr>
          <a:xfrm>
            <a:off x="1097280" y="4160520"/>
            <a:ext cx="1828800" cy="2240280"/>
          </a:xfrm>
          <a:prstGeom prst="rect">
            <a:avLst/>
          </a:prstGeom>
          <a:noFill/>
        </p:spPr>
        <p:txBody>
          <a:bodyPr wrap="square" anchor="t">
            <a:spAutoFit/>
          </a:bodyPr>
          <a:lstStyle/>
          <a:p>
            <a:pPr algn="ctr"/>
            <a:r>
              <a:rPr sz="2800" b="1" i="0">
                <a:solidFill>
                  <a:srgbClr val="1E1E1E"/>
                </a:solidFill>
                <a:latin typeface="Meiryo"/>
              </a:rPr>
              <a:t>重力
(基本場)</a:t>
            </a:r>
          </a:p>
        </p:txBody>
      </p:sp>
      <p:sp>
        <p:nvSpPr>
          <p:cNvPr id="11" name="Rectangle 10"/>
          <p:cNvSpPr/>
          <p:nvPr/>
        </p:nvSpPr>
        <p:spPr>
          <a:xfrm>
            <a:off x="2926080" y="1828800"/>
            <a:ext cx="12700" cy="127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26080" y="1097280"/>
            <a:ext cx="12700" cy="5212080"/>
          </a:xfrm>
          <a:prstGeom prst="rect">
            <a:avLst/>
          </a:prstGeom>
          <a:solidFill>
            <a:srgbClr val="1E1E1E"/>
          </a:solidFill>
          <a:ln>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0" y="1097280"/>
            <a:ext cx="12700" cy="5212080"/>
          </a:xfrm>
          <a:prstGeom prst="rect">
            <a:avLst/>
          </a:prstGeom>
          <a:solidFill>
            <a:srgbClr val="1E1E1E"/>
          </a:solidFill>
          <a:ln>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1828800"/>
            <a:ext cx="10607040" cy="12700"/>
          </a:xfrm>
          <a:prstGeom prst="rect">
            <a:avLst/>
          </a:prstGeom>
          <a:solidFill>
            <a:srgbClr val="1E1E1E"/>
          </a:solidFill>
          <a:ln>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4069080"/>
            <a:ext cx="10607040" cy="12700"/>
          </a:xfrm>
          <a:prstGeom prst="rect">
            <a:avLst/>
          </a:prstGeom>
          <a:solidFill>
            <a:srgbClr val="1E1E1E"/>
          </a:solidFill>
          <a:ln>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08960" y="3380154"/>
            <a:ext cx="4023360" cy="646331"/>
          </a:xfrm>
          <a:prstGeom prst="rect">
            <a:avLst/>
          </a:prstGeom>
          <a:noFill/>
        </p:spPr>
        <p:txBody>
          <a:bodyPr wrap="square" anchor="t">
            <a:spAutoFit/>
          </a:bodyPr>
          <a:lstStyle/>
          <a:p>
            <a:pPr algn="ctr"/>
            <a:r>
              <a:rPr lang="ja-JP" altLang="en-US" b="1" dirty="0">
                <a:solidFill>
                  <a:srgbClr val="1E1E1E"/>
                </a:solidFill>
                <a:latin typeface="游ゴシック" panose="020B0400000000000000" pitchFamily="50" charset="-128"/>
                <a:ea typeface="游ゴシック" panose="020B0400000000000000" pitchFamily="50" charset="-128"/>
              </a:rPr>
              <a:t>速度極限時 </a:t>
            </a:r>
            <a:r>
              <a:rPr sz="1800" b="1" i="0" dirty="0">
                <a:solidFill>
                  <a:srgbClr val="1E1E1E"/>
                </a:solidFill>
                <a:latin typeface="游ゴシック" panose="020B0400000000000000" pitchFamily="50" charset="-128"/>
                <a:ea typeface="游ゴシック" panose="020B0400000000000000" pitchFamily="50" charset="-128"/>
              </a:rPr>
              <a:t>v → c </a:t>
            </a:r>
            <a:r>
              <a:rPr sz="1800" b="1" i="0" dirty="0" err="1">
                <a:solidFill>
                  <a:srgbClr val="1E1E1E"/>
                </a:solidFill>
                <a:latin typeface="游ゴシック" panose="020B0400000000000000" pitchFamily="50" charset="-128"/>
                <a:ea typeface="游ゴシック" panose="020B0400000000000000" pitchFamily="50" charset="-128"/>
              </a:rPr>
              <a:t>でも有限</a:t>
            </a:r>
            <a:endParaRPr lang="en-US" sz="1800" b="1" i="0" dirty="0">
              <a:solidFill>
                <a:srgbClr val="1E1E1E"/>
              </a:solidFill>
              <a:latin typeface="游ゴシック" panose="020B0400000000000000" pitchFamily="50" charset="-128"/>
              <a:ea typeface="游ゴシック" panose="020B0400000000000000" pitchFamily="50" charset="-128"/>
            </a:endParaRPr>
          </a:p>
          <a:p>
            <a:pPr algn="ctr"/>
            <a:r>
              <a:rPr sz="1800" b="1" i="0" dirty="0">
                <a:solidFill>
                  <a:srgbClr val="1E1E1E"/>
                </a:solidFill>
                <a:latin typeface="游ゴシック" panose="020B0400000000000000" pitchFamily="50" charset="-128"/>
                <a:ea typeface="游ゴシック" panose="020B0400000000000000" pitchFamily="50" charset="-128"/>
              </a:rPr>
              <a:t>（0にならない）≠ 0</a:t>
            </a:r>
          </a:p>
        </p:txBody>
      </p:sp>
      <p:sp>
        <p:nvSpPr>
          <p:cNvPr id="21" name="TextBox 20"/>
          <p:cNvSpPr txBox="1"/>
          <p:nvPr/>
        </p:nvSpPr>
        <p:spPr>
          <a:xfrm>
            <a:off x="7510780" y="3632792"/>
            <a:ext cx="4023360" cy="365760"/>
          </a:xfrm>
          <a:prstGeom prst="rect">
            <a:avLst/>
          </a:prstGeom>
          <a:noFill/>
        </p:spPr>
        <p:txBody>
          <a:bodyPr wrap="square" anchor="t">
            <a:spAutoFit/>
          </a:bodyPr>
          <a:lstStyle/>
          <a:p>
            <a:pPr algn="ctr"/>
            <a:r>
              <a:rPr lang="ja-JP" altLang="en-US" sz="1800" b="1" i="0" dirty="0">
                <a:latin typeface="游ゴシック" panose="020B0400000000000000" pitchFamily="50" charset="-128"/>
                <a:ea typeface="游ゴシック" panose="020B0400000000000000" pitchFamily="50" charset="-128"/>
              </a:rPr>
              <a:t>速度極限時 </a:t>
            </a:r>
            <a:r>
              <a:rPr sz="1800" b="1" i="0" dirty="0">
                <a:latin typeface="游ゴシック" panose="020B0400000000000000" pitchFamily="50" charset="-128"/>
                <a:ea typeface="游ゴシック" panose="020B0400000000000000" pitchFamily="50" charset="-128"/>
              </a:rPr>
              <a:t>v → c で 0 → 0</a:t>
            </a:r>
          </a:p>
        </p:txBody>
      </p:sp>
      <p:sp>
        <p:nvSpPr>
          <p:cNvPr id="25" name="TextBox 24"/>
          <p:cNvSpPr txBox="1"/>
          <p:nvPr/>
        </p:nvSpPr>
        <p:spPr>
          <a:xfrm>
            <a:off x="3086100" y="5895174"/>
            <a:ext cx="4023360" cy="338554"/>
          </a:xfrm>
          <a:prstGeom prst="rect">
            <a:avLst/>
          </a:prstGeom>
          <a:noFill/>
        </p:spPr>
        <p:txBody>
          <a:bodyPr wrap="square" anchor="t">
            <a:spAutoFit/>
          </a:bodyPr>
          <a:lstStyle/>
          <a:p>
            <a:pPr algn="ctr"/>
            <a:r>
              <a:rPr sz="1600" b="1" i="0" dirty="0">
                <a:latin typeface="游ゴシック" panose="020B0400000000000000" pitchFamily="50" charset="-128"/>
                <a:ea typeface="游ゴシック" panose="020B0400000000000000" pitchFamily="50" charset="-128"/>
              </a:rPr>
              <a:t>P</a:t>
            </a:r>
            <a:r>
              <a:rPr lang="ja-JP" altLang="en-US" sz="1600" b="1" dirty="0">
                <a:latin typeface="游ゴシック" panose="020B0400000000000000" pitchFamily="50" charset="-128"/>
                <a:ea typeface="游ゴシック" panose="020B0400000000000000" pitchFamily="50" charset="-128"/>
              </a:rPr>
              <a:t>↑</a:t>
            </a:r>
            <a:r>
              <a:rPr sz="1600" b="1" i="0" dirty="0">
                <a:latin typeface="游ゴシック" panose="020B0400000000000000" pitchFamily="50" charset="-128"/>
                <a:ea typeface="游ゴシック" panose="020B0400000000000000" pitchFamily="50" charset="-128"/>
              </a:rPr>
              <a:t> </a:t>
            </a:r>
            <a:r>
              <a:rPr sz="1600" b="1" i="0" dirty="0" err="1">
                <a:latin typeface="游ゴシック" panose="020B0400000000000000" pitchFamily="50" charset="-128"/>
                <a:ea typeface="游ゴシック" panose="020B0400000000000000" pitchFamily="50" charset="-128"/>
              </a:rPr>
              <a:t>ほど重力井戸が深い</a:t>
            </a:r>
            <a:endParaRPr sz="1600" b="1" i="0" dirty="0">
              <a:latin typeface="游ゴシック" panose="020B0400000000000000" pitchFamily="50" charset="-128"/>
              <a:ea typeface="游ゴシック" panose="020B0400000000000000" pitchFamily="50" charset="-128"/>
            </a:endParaRPr>
          </a:p>
        </p:txBody>
      </p:sp>
      <p:sp>
        <p:nvSpPr>
          <p:cNvPr id="27" name="TextBox 26"/>
          <p:cNvSpPr txBox="1"/>
          <p:nvPr/>
        </p:nvSpPr>
        <p:spPr>
          <a:xfrm>
            <a:off x="7382510" y="4417060"/>
            <a:ext cx="1883410" cy="369332"/>
          </a:xfrm>
          <a:prstGeom prst="rect">
            <a:avLst/>
          </a:prstGeom>
          <a:noFill/>
        </p:spPr>
        <p:txBody>
          <a:bodyPr wrap="square" anchor="t">
            <a:spAutoFit/>
          </a:bodyPr>
          <a:lstStyle/>
          <a:p>
            <a:pPr algn="ctr"/>
            <a:r>
              <a:rPr sz="1800" b="1" i="1" dirty="0">
                <a:solidFill>
                  <a:srgbClr val="1E1E1E"/>
                </a:solidFill>
                <a:latin typeface="游ゴシック" panose="020B0400000000000000" pitchFamily="50" charset="-128"/>
                <a:ea typeface="游ゴシック" panose="020B0400000000000000" pitchFamily="50" charset="-128"/>
              </a:rPr>
              <a:t>Einstein </a:t>
            </a:r>
            <a:r>
              <a:rPr sz="1800" b="1" i="1" dirty="0" err="1">
                <a:solidFill>
                  <a:srgbClr val="1E1E1E"/>
                </a:solidFill>
                <a:latin typeface="游ゴシック" panose="020B0400000000000000" pitchFamily="50" charset="-128"/>
                <a:ea typeface="游ゴシック" panose="020B0400000000000000" pitchFamily="50" charset="-128"/>
              </a:rPr>
              <a:t>方程式</a:t>
            </a:r>
            <a:endParaRPr sz="1800" b="1" i="1" dirty="0">
              <a:solidFill>
                <a:srgbClr val="1E1E1E"/>
              </a:solidFill>
              <a:latin typeface="游ゴシック" panose="020B0400000000000000" pitchFamily="50" charset="-128"/>
              <a:ea typeface="游ゴシック" panose="020B0400000000000000" pitchFamily="50" charset="-128"/>
            </a:endParaRPr>
          </a:p>
        </p:txBody>
      </p:sp>
      <mc:AlternateContent xmlns:mc="http://schemas.openxmlformats.org/markup-compatibility/2006">
        <mc:Choice xmlns:a14="http://schemas.microsoft.com/office/drawing/2010/main" Requires="a14">
          <p:sp>
            <p:nvSpPr>
              <p:cNvPr id="28" name="TextBox 27"/>
              <p:cNvSpPr txBox="1"/>
              <p:nvPr/>
            </p:nvSpPr>
            <p:spPr>
              <a:xfrm>
                <a:off x="7486650" y="5621163"/>
                <a:ext cx="4023360" cy="648126"/>
              </a:xfrm>
              <a:prstGeom prst="rect">
                <a:avLst/>
              </a:prstGeom>
              <a:noFill/>
            </p:spPr>
            <p:txBody>
              <a:bodyPr wrap="square" anchor="t">
                <a:spAutoFit/>
              </a:bodyPr>
              <a:lstStyle/>
              <a:p>
                <a:pPr algn="ctr"/>
                <a:r>
                  <a:rPr lang="ja-JP" altLang="en-US" sz="1600" b="1" i="0" dirty="0">
                    <a:latin typeface="游ゴシック" panose="020B0400000000000000" pitchFamily="50" charset="-128"/>
                    <a:ea typeface="游ゴシック" panose="020B0400000000000000" pitchFamily="50" charset="-128"/>
                  </a:rPr>
                  <a:t>時空計量 </a:t>
                </a:r>
                <a14:m>
                  <m:oMath xmlns:m="http://schemas.openxmlformats.org/officeDocument/2006/math">
                    <m:sSub>
                      <m:sSubPr>
                        <m:ctrlPr>
                          <a:rPr kumimoji="1" lang="en-US" altLang="ja-JP" sz="1600" b="1" i="1">
                            <a:latin typeface="Cambria Math" panose="02040503050406030204" pitchFamily="18" charset="0"/>
                            <a:ea typeface="Cambria Math" panose="02040503050406030204" pitchFamily="18" charset="0"/>
                          </a:rPr>
                        </m:ctrlPr>
                      </m:sSubPr>
                      <m:e>
                        <m:r>
                          <a:rPr kumimoji="1" lang="en-US" altLang="ja-JP" sz="1600" b="1" i="1">
                            <a:latin typeface="Cambria Math" panose="02040503050406030204" pitchFamily="18" charset="0"/>
                            <a:ea typeface="Cambria Math" panose="02040503050406030204" pitchFamily="18" charset="0"/>
                          </a:rPr>
                          <m:t>𝒈</m:t>
                        </m:r>
                      </m:e>
                      <m:sub>
                        <m:r>
                          <a:rPr kumimoji="1" lang="ja-JP" altLang="en-US" sz="1600" b="1" i="1">
                            <a:latin typeface="Cambria Math" panose="02040503050406030204" pitchFamily="18" charset="0"/>
                            <a:ea typeface="Cambria Math" panose="02040503050406030204" pitchFamily="18" charset="0"/>
                          </a:rPr>
                          <m:t>𝝁</m:t>
                        </m:r>
                        <m:r>
                          <a:rPr kumimoji="1" lang="en-US" altLang="ja-JP" sz="1600" b="1" i="1">
                            <a:latin typeface="Cambria Math" panose="02040503050406030204" pitchFamily="18" charset="0"/>
                            <a:ea typeface="Cambria Math" panose="02040503050406030204" pitchFamily="18" charset="0"/>
                          </a:rPr>
                          <m:t>𝒗</m:t>
                        </m:r>
                      </m:sub>
                    </m:sSub>
                  </m:oMath>
                </a14:m>
                <a:r>
                  <a:rPr lang="ja-JP" altLang="en-US" sz="1600" b="1" i="0" dirty="0">
                    <a:latin typeface="游ゴシック" panose="020B0400000000000000" pitchFamily="50" charset="-128"/>
                    <a:ea typeface="游ゴシック" panose="020B0400000000000000" pitchFamily="50" charset="-128"/>
                  </a:rPr>
                  <a:t> が基本場</a:t>
                </a:r>
                <a:endParaRPr lang="en-US" altLang="ja-JP" sz="1600" b="1" i="0" dirty="0">
                  <a:latin typeface="游ゴシック" panose="020B0400000000000000" pitchFamily="50" charset="-128"/>
                  <a:ea typeface="游ゴシック" panose="020B0400000000000000" pitchFamily="50" charset="-128"/>
                </a:endParaRPr>
              </a:p>
              <a:p>
                <a:pPr algn="ctr"/>
                <a14:m>
                  <m:oMath xmlns:m="http://schemas.openxmlformats.org/officeDocument/2006/math">
                    <m:sSub>
                      <m:sSubPr>
                        <m:ctrlPr>
                          <a:rPr kumimoji="1" lang="en-US" altLang="ja-JP" sz="1600" b="1" i="1">
                            <a:latin typeface="Cambria Math" panose="02040503050406030204" pitchFamily="18" charset="0"/>
                            <a:ea typeface="Cambria Math" panose="02040503050406030204" pitchFamily="18" charset="0"/>
                          </a:rPr>
                        </m:ctrlPr>
                      </m:sSubPr>
                      <m:e>
                        <m:r>
                          <a:rPr kumimoji="1" lang="en-US" altLang="ja-JP" sz="1600" b="1" i="1" smtClean="0">
                            <a:latin typeface="Cambria Math" panose="02040503050406030204" pitchFamily="18" charset="0"/>
                            <a:ea typeface="Cambria Math" panose="02040503050406030204" pitchFamily="18" charset="0"/>
                          </a:rPr>
                          <m:t>𝑻</m:t>
                        </m:r>
                      </m:e>
                      <m:sub>
                        <m:r>
                          <a:rPr kumimoji="1" lang="ja-JP" altLang="en-US" sz="1600" b="1" i="1">
                            <a:latin typeface="Cambria Math" panose="02040503050406030204" pitchFamily="18" charset="0"/>
                            <a:ea typeface="Cambria Math" panose="02040503050406030204" pitchFamily="18" charset="0"/>
                          </a:rPr>
                          <m:t>𝝁</m:t>
                        </m:r>
                        <m:r>
                          <a:rPr kumimoji="1" lang="en-US" altLang="ja-JP" sz="1600" b="1" i="1">
                            <a:latin typeface="Cambria Math" panose="02040503050406030204" pitchFamily="18" charset="0"/>
                            <a:ea typeface="Cambria Math" panose="02040503050406030204" pitchFamily="18" charset="0"/>
                          </a:rPr>
                          <m:t>𝒗</m:t>
                        </m:r>
                      </m:sub>
                    </m:sSub>
                    <m:sSub>
                      <m:sSubPr>
                        <m:ctrlPr>
                          <a:rPr kumimoji="1" lang="en-US" altLang="ja-JP" sz="1600" b="1" i="1">
                            <a:latin typeface="Cambria Math" panose="02040503050406030204" pitchFamily="18" charset="0"/>
                            <a:ea typeface="Cambria Math" panose="02040503050406030204" pitchFamily="18" charset="0"/>
                          </a:rPr>
                        </m:ctrlPr>
                      </m:sSubPr>
                      <m:e>
                        <m:r>
                          <m:rPr>
                            <m:nor/>
                          </m:rPr>
                          <a:rPr lang="ja-JP" altLang="en-US" sz="1600" b="1" dirty="0">
                            <a:latin typeface="游ゴシック" panose="020B0400000000000000" pitchFamily="50" charset="-128"/>
                            <a:ea typeface="游ゴシック" panose="020B0400000000000000" pitchFamily="50" charset="-128"/>
                          </a:rPr>
                          <m:t>→</m:t>
                        </m:r>
                        <m:r>
                          <m:rPr>
                            <m:nor/>
                          </m:rPr>
                          <a:rPr lang="en-US" altLang="ja-JP" sz="1600" b="1" i="0" dirty="0" smtClean="0">
                            <a:latin typeface="游ゴシック" panose="020B0400000000000000" pitchFamily="50" charset="-128"/>
                            <a:ea typeface="游ゴシック" panose="020B0400000000000000" pitchFamily="50" charset="-128"/>
                          </a:rPr>
                          <m:t> </m:t>
                        </m:r>
                        <m:r>
                          <a:rPr kumimoji="1" lang="en-US" altLang="ja-JP" sz="1600" b="1" i="1">
                            <a:latin typeface="Cambria Math" panose="02040503050406030204" pitchFamily="18" charset="0"/>
                            <a:ea typeface="Cambria Math" panose="02040503050406030204" pitchFamily="18" charset="0"/>
                          </a:rPr>
                          <m:t>𝒈</m:t>
                        </m:r>
                      </m:e>
                      <m:sub>
                        <m:r>
                          <a:rPr kumimoji="1" lang="ja-JP" altLang="en-US" sz="1600" b="1" i="1">
                            <a:latin typeface="Cambria Math" panose="02040503050406030204" pitchFamily="18" charset="0"/>
                            <a:ea typeface="Cambria Math" panose="02040503050406030204" pitchFamily="18" charset="0"/>
                          </a:rPr>
                          <m:t>𝝁</m:t>
                        </m:r>
                        <m:r>
                          <a:rPr kumimoji="1" lang="en-US" altLang="ja-JP" sz="1600" b="1" i="1">
                            <a:latin typeface="Cambria Math" panose="02040503050406030204" pitchFamily="18" charset="0"/>
                            <a:ea typeface="Cambria Math" panose="02040503050406030204" pitchFamily="18" charset="0"/>
                          </a:rPr>
                          <m:t>𝒗</m:t>
                        </m:r>
                      </m:sub>
                    </m:sSub>
                    <m:r>
                      <m:rPr>
                        <m:nor/>
                      </m:rPr>
                      <a:rPr lang="ja-JP" altLang="en-US" sz="1600" b="1" dirty="0">
                        <a:latin typeface="游ゴシック" panose="020B0400000000000000" pitchFamily="50" charset="-128"/>
                        <a:ea typeface="游ゴシック" panose="020B0400000000000000" pitchFamily="50" charset="-128"/>
                      </a:rPr>
                      <m:t>→</m:t>
                    </m:r>
                    <m:r>
                      <a:rPr lang="en-US" altLang="ja-JP" sz="1600" b="1" i="1" dirty="0" smtClean="0">
                        <a:latin typeface="Cambria Math" panose="02040503050406030204" pitchFamily="18" charset="0"/>
                        <a:ea typeface="游ゴシック" panose="020B0400000000000000" pitchFamily="50" charset="-128"/>
                      </a:rPr>
                      <m:t> </m:t>
                    </m:r>
                    <m:sSubSup>
                      <m:sSubSupPr>
                        <m:ctrlPr>
                          <a:rPr kumimoji="1" lang="en-US" altLang="ja-JP" sz="1600" b="1" i="1">
                            <a:latin typeface="Cambria Math" panose="02040503050406030204" pitchFamily="18" charset="0"/>
                            <a:ea typeface="Cambria Math" panose="02040503050406030204" pitchFamily="18" charset="0"/>
                          </a:rPr>
                        </m:ctrlPr>
                      </m:sSubSupPr>
                      <m:e>
                        <m:r>
                          <a:rPr kumimoji="1" lang="en-US" altLang="ja-JP" sz="1600" b="1" i="1">
                            <a:latin typeface="Cambria Math" panose="02040503050406030204" pitchFamily="18" charset="0"/>
                            <a:ea typeface="Cambria Math" panose="02040503050406030204" pitchFamily="18" charset="0"/>
                          </a:rPr>
                          <m:t>𝒅</m:t>
                        </m:r>
                      </m:e>
                      <m:sub>
                        <m:r>
                          <a:rPr kumimoji="1" lang="en-US" altLang="ja-JP" sz="1600" b="1" i="1">
                            <a:latin typeface="Cambria Math" panose="02040503050406030204" pitchFamily="18" charset="0"/>
                            <a:ea typeface="Cambria Math" panose="02040503050406030204" pitchFamily="18" charset="0"/>
                          </a:rPr>
                          <m:t>𝒔</m:t>
                        </m:r>
                      </m:sub>
                      <m:sup>
                        <m:r>
                          <a:rPr kumimoji="1" lang="en-US" altLang="ja-JP" sz="1600" b="1" i="1">
                            <a:latin typeface="Cambria Math" panose="02040503050406030204" pitchFamily="18" charset="0"/>
                            <a:ea typeface="Cambria Math" panose="02040503050406030204" pitchFamily="18" charset="0"/>
                          </a:rPr>
                          <m:t>𝟐</m:t>
                        </m:r>
                      </m:sup>
                    </m:sSubSup>
                    <m:r>
                      <a:rPr kumimoji="1" lang="en-US" altLang="ja-JP" sz="1600" b="0" i="1" smtClean="0">
                        <a:latin typeface="Cambria Math" panose="02040503050406030204" pitchFamily="18" charset="0"/>
                        <a:ea typeface="Cambria Math" panose="02040503050406030204" pitchFamily="18" charset="0"/>
                      </a:rPr>
                      <m:t> </m:t>
                    </m:r>
                  </m:oMath>
                </a14:m>
                <a:r>
                  <a:rPr lang="ja-JP" altLang="en-US" sz="1600" b="1" dirty="0">
                    <a:latin typeface="游ゴシック" panose="020B0400000000000000" pitchFamily="50" charset="-128"/>
                    <a:ea typeface="游ゴシック" panose="020B0400000000000000" pitchFamily="50" charset="-128"/>
                  </a:rPr>
                  <a:t>→</a:t>
                </a:r>
                <a:r>
                  <a:rPr lang="en-US" sz="1600" b="1" i="0" dirty="0">
                    <a:latin typeface="游ゴシック" panose="020B0400000000000000" pitchFamily="50" charset="-128"/>
                    <a:ea typeface="游ゴシック" panose="020B0400000000000000" pitchFamily="50" charset="-128"/>
                  </a:rPr>
                  <a:t> </a:t>
                </a:r>
                <a:r>
                  <a:rPr lang="ja-JP" altLang="en-US" sz="1600" b="1" i="0" dirty="0">
                    <a:latin typeface="游ゴシック" panose="020B0400000000000000" pitchFamily="50" charset="-128"/>
                    <a:ea typeface="游ゴシック" panose="020B0400000000000000" pitchFamily="50" charset="-128"/>
                  </a:rPr>
                  <a:t>時計・光・運動</a:t>
                </a:r>
                <a:endParaRPr sz="1600" b="1" i="0" dirty="0">
                  <a:latin typeface="游ゴシック" panose="020B0400000000000000" pitchFamily="50" charset="-128"/>
                  <a:ea typeface="游ゴシック" panose="020B0400000000000000" pitchFamily="50" charset="-128"/>
                </a:endParaRPr>
              </a:p>
            </p:txBody>
          </p:sp>
        </mc:Choice>
        <mc:Fallback>
          <p:sp>
            <p:nvSpPr>
              <p:cNvPr id="28" name="TextBox 27"/>
              <p:cNvSpPr txBox="1">
                <a:spLocks noRot="1" noChangeAspect="1" noMove="1" noResize="1" noEditPoints="1" noAdjustHandles="1" noChangeArrowheads="1" noChangeShapeType="1" noTextEdit="1"/>
              </p:cNvSpPr>
              <p:nvPr/>
            </p:nvSpPr>
            <p:spPr>
              <a:xfrm>
                <a:off x="7486650" y="5621163"/>
                <a:ext cx="4023360" cy="648126"/>
              </a:xfrm>
              <a:prstGeom prst="rect">
                <a:avLst/>
              </a:prstGeom>
              <a:blipFill>
                <a:blip r:embed="rId2"/>
                <a:stretch>
                  <a:fillRect t="-1887" b="-7547"/>
                </a:stretch>
              </a:blipFill>
            </p:spPr>
            <p:txBody>
              <a:bodyPr/>
              <a:lstStyle/>
              <a:p>
                <a:r>
                  <a:rPr lang="ja-JP" altLang="en-US">
                    <a:noFill/>
                  </a:rPr>
                  <a:t> </a:t>
                </a:r>
              </a:p>
            </p:txBody>
          </p:sp>
        </mc:Fallback>
      </mc:AlternateContent>
      <p:sp>
        <p:nvSpPr>
          <p:cNvPr id="30" name="AutoShape 2">
            <a:extLst>
              <a:ext uri="{FF2B5EF4-FFF2-40B4-BE49-F238E27FC236}">
                <a16:creationId xmlns:a16="http://schemas.microsoft.com/office/drawing/2014/main" id="{C3960F96-18C6-5FA8-3B35-02B022550195}"/>
              </a:ext>
            </a:extLst>
          </p:cNvPr>
          <p:cNvSpPr>
            <a:spLocks noChangeAspect="1" noChangeArrowheads="1"/>
          </p:cNvSpPr>
          <p:nvPr/>
        </p:nvSpPr>
        <p:spPr bwMode="auto">
          <a:xfrm>
            <a:off x="20589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2" name="AutoShape 4">
            <a:extLst>
              <a:ext uri="{FF2B5EF4-FFF2-40B4-BE49-F238E27FC236}">
                <a16:creationId xmlns:a16="http://schemas.microsoft.com/office/drawing/2014/main" id="{A0A21D3C-5702-3953-A117-0DB00577D6D6}"/>
              </a:ext>
            </a:extLst>
          </p:cNvPr>
          <p:cNvSpPr>
            <a:spLocks noChangeAspect="1" noChangeArrowheads="1"/>
          </p:cNvSpPr>
          <p:nvPr/>
        </p:nvSpPr>
        <p:spPr bwMode="auto">
          <a:xfrm>
            <a:off x="221138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mc:AlternateContent xmlns:mc="http://schemas.openxmlformats.org/markup-compatibility/2006">
        <mc:Choice xmlns:a14="http://schemas.microsoft.com/office/drawing/2010/main" Requires="a14">
          <p:sp>
            <p:nvSpPr>
              <p:cNvPr id="34" name="テキスト ボックス 33">
                <a:extLst>
                  <a:ext uri="{FF2B5EF4-FFF2-40B4-BE49-F238E27FC236}">
                    <a16:creationId xmlns:a16="http://schemas.microsoft.com/office/drawing/2014/main" id="{CFDBFE4B-0AB0-B8C5-D499-2F0C0FB89E41}"/>
                  </a:ext>
                </a:extLst>
              </p:cNvPr>
              <p:cNvSpPr txBox="1"/>
              <p:nvPr/>
            </p:nvSpPr>
            <p:spPr>
              <a:xfrm>
                <a:off x="3004820" y="1871258"/>
                <a:ext cx="4231640" cy="13653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kumimoji="1" lang="en-US" altLang="ja-JP" sz="2800" i="1" smtClean="0">
                              <a:latin typeface="Cambria Math" panose="02040503050406030204" pitchFamily="18" charset="0"/>
                            </a:rPr>
                          </m:ctrlPr>
                        </m:fPr>
                        <m:num>
                          <m:r>
                            <a:rPr kumimoji="1" lang="en-US" altLang="ja-JP" sz="2800" i="1" smtClean="0">
                              <a:latin typeface="Cambria Math" panose="02040503050406030204" pitchFamily="18" charset="0"/>
                            </a:rPr>
                            <m:t>𝑑</m:t>
                          </m:r>
                          <m:r>
                            <a:rPr kumimoji="1" lang="ja-JP" altLang="en-US" sz="2800" i="1" smtClean="0">
                              <a:latin typeface="Cambria Math" panose="02040503050406030204" pitchFamily="18" charset="0"/>
                            </a:rPr>
                            <m:t>𝜏</m:t>
                          </m:r>
                        </m:num>
                        <m:den>
                          <m:r>
                            <a:rPr kumimoji="1" lang="en-US" altLang="ja-JP" sz="2800" i="1" smtClean="0">
                              <a:latin typeface="Cambria Math" panose="02040503050406030204" pitchFamily="18" charset="0"/>
                            </a:rPr>
                            <m:t>𝑑</m:t>
                          </m:r>
                          <m:r>
                            <a:rPr kumimoji="1" lang="en-US" altLang="ja-JP" sz="2800" b="0" i="1" smtClean="0">
                              <a:latin typeface="Cambria Math" panose="02040503050406030204" pitchFamily="18" charset="0"/>
                            </a:rPr>
                            <m:t>𝑡</m:t>
                          </m:r>
                        </m:den>
                      </m:f>
                      <m:r>
                        <a:rPr kumimoji="1" lang="en-US" altLang="ja-JP" sz="2800" i="1" smtClean="0">
                          <a:latin typeface="Cambria Math" panose="02040503050406030204" pitchFamily="18" charset="0"/>
                          <a:ea typeface="Cambria Math" panose="02040503050406030204" pitchFamily="18" charset="0"/>
                        </a:rPr>
                        <m:t>=</m:t>
                      </m:r>
                      <m:rad>
                        <m:radPr>
                          <m:degHide m:val="on"/>
                          <m:ctrlPr>
                            <a:rPr kumimoji="1" lang="en-US" altLang="ja-JP" sz="2800" i="1" smtClean="0">
                              <a:latin typeface="Cambria Math" panose="02040503050406030204" pitchFamily="18" charset="0"/>
                              <a:ea typeface="Cambria Math" panose="02040503050406030204" pitchFamily="18" charset="0"/>
                            </a:rPr>
                          </m:ctrlPr>
                        </m:radPr>
                        <m:deg/>
                        <m:e>
                          <m:box>
                            <m:boxPr>
                              <m:ctrlPr>
                                <a:rPr kumimoji="1" lang="en-US" altLang="ja-JP" sz="2800" i="1" smtClean="0">
                                  <a:latin typeface="Cambria Math" panose="02040503050406030204" pitchFamily="18" charset="0"/>
                                  <a:ea typeface="Cambria Math" panose="02040503050406030204" pitchFamily="18" charset="0"/>
                                </a:rPr>
                              </m:ctrlPr>
                            </m:boxPr>
                            <m:e>
                              <m:argPr>
                                <m:argSz m:val="-1"/>
                              </m:argPr>
                              <m:f>
                                <m:fPr>
                                  <m:ctrlPr>
                                    <a:rPr kumimoji="1" lang="en-US" altLang="ja-JP" sz="2800" i="1" smtClean="0">
                                      <a:latin typeface="Cambria Math" panose="02040503050406030204" pitchFamily="18" charset="0"/>
                                      <a:ea typeface="Cambria Math" panose="02040503050406030204" pitchFamily="18" charset="0"/>
                                    </a:rPr>
                                  </m:ctrlPr>
                                </m:fPr>
                                <m:num>
                                  <m:r>
                                    <a:rPr kumimoji="1" lang="en-US" altLang="ja-JP" sz="2800" b="0" i="1" smtClean="0">
                                      <a:latin typeface="Cambria Math" panose="02040503050406030204" pitchFamily="18" charset="0"/>
                                      <a:ea typeface="Cambria Math" panose="02040503050406030204" pitchFamily="18" charset="0"/>
                                    </a:rPr>
                                    <m:t>1 − </m:t>
                                  </m:r>
                                  <m:box>
                                    <m:boxPr>
                                      <m:ctrlPr>
                                        <a:rPr kumimoji="1" lang="en-US" altLang="ja-JP" sz="2800" b="0" i="1" smtClean="0">
                                          <a:latin typeface="Cambria Math" panose="02040503050406030204" pitchFamily="18" charset="0"/>
                                          <a:ea typeface="Cambria Math" panose="02040503050406030204" pitchFamily="18" charset="0"/>
                                        </a:rPr>
                                      </m:ctrlPr>
                                    </m:boxPr>
                                    <m:e>
                                      <m:argPr>
                                        <m:argSz m:val="-1"/>
                                      </m:argPr>
                                      <m:f>
                                        <m:fPr>
                                          <m:ctrlPr>
                                            <a:rPr kumimoji="1" lang="en-US" altLang="ja-JP" sz="2800" b="0" i="1" smtClean="0">
                                              <a:latin typeface="Cambria Math" panose="02040503050406030204" pitchFamily="18" charset="0"/>
                                              <a:ea typeface="Cambria Math" panose="02040503050406030204" pitchFamily="18" charset="0"/>
                                            </a:rPr>
                                          </m:ctrlPr>
                                        </m:fPr>
                                        <m:num>
                                          <m:sSup>
                                            <m:sSupPr>
                                              <m:ctrlPr>
                                                <a:rPr kumimoji="1" lang="en-US" altLang="ja-JP" sz="2800" b="0" i="1" smtClean="0">
                                                  <a:latin typeface="Cambria Math" panose="02040503050406030204" pitchFamily="18" charset="0"/>
                                                  <a:ea typeface="Cambria Math" panose="02040503050406030204" pitchFamily="18" charset="0"/>
                                                </a:rPr>
                                              </m:ctrlPr>
                                            </m:sSupPr>
                                            <m:e>
                                              <m:r>
                                                <a:rPr kumimoji="1" lang="en-US" altLang="ja-JP" sz="2800" b="0" i="1" smtClean="0">
                                                  <a:latin typeface="Cambria Math" panose="02040503050406030204" pitchFamily="18" charset="0"/>
                                                  <a:ea typeface="Cambria Math" panose="02040503050406030204" pitchFamily="18" charset="0"/>
                                                </a:rPr>
                                                <m:t>𝑣</m:t>
                                              </m:r>
                                            </m:e>
                                            <m:sup>
                                              <m:r>
                                                <a:rPr kumimoji="1" lang="en-US" altLang="ja-JP" sz="2800" b="0" i="1" smtClean="0">
                                                  <a:latin typeface="Cambria Math" panose="02040503050406030204" pitchFamily="18" charset="0"/>
                                                  <a:ea typeface="Cambria Math" panose="02040503050406030204" pitchFamily="18" charset="0"/>
                                                </a:rPr>
                                                <m:t>2</m:t>
                                              </m:r>
                                            </m:sup>
                                          </m:sSup>
                                        </m:num>
                                        <m:den>
                                          <m:sSup>
                                            <m:sSupPr>
                                              <m:ctrlPr>
                                                <a:rPr kumimoji="1" lang="en-US" altLang="ja-JP" sz="2800" b="0" i="1" smtClean="0">
                                                  <a:latin typeface="Cambria Math" panose="02040503050406030204" pitchFamily="18" charset="0"/>
                                                  <a:ea typeface="Cambria Math" panose="02040503050406030204" pitchFamily="18" charset="0"/>
                                                </a:rPr>
                                              </m:ctrlPr>
                                            </m:sSupPr>
                                            <m:e>
                                              <m:r>
                                                <a:rPr kumimoji="1" lang="en-US" altLang="ja-JP" sz="2800" b="0" i="1" smtClean="0">
                                                  <a:latin typeface="Cambria Math" panose="02040503050406030204" pitchFamily="18" charset="0"/>
                                                  <a:ea typeface="Cambria Math" panose="02040503050406030204" pitchFamily="18" charset="0"/>
                                                </a:rPr>
                                                <m:t>𝑐</m:t>
                                              </m:r>
                                            </m:e>
                                            <m:sup>
                                              <m:r>
                                                <a:rPr kumimoji="1" lang="en-US" altLang="ja-JP" sz="2800" b="0" i="1" smtClean="0">
                                                  <a:latin typeface="Cambria Math" panose="02040503050406030204" pitchFamily="18" charset="0"/>
                                                  <a:ea typeface="Cambria Math" panose="02040503050406030204" pitchFamily="18" charset="0"/>
                                                </a:rPr>
                                                <m:t>2</m:t>
                                              </m:r>
                                            </m:sup>
                                          </m:sSup>
                                        </m:den>
                                      </m:f>
                                      <m:r>
                                        <a:rPr kumimoji="1" lang="en-US" altLang="ja-JP" sz="2800" b="0" i="1" smtClean="0">
                                          <a:latin typeface="Cambria Math" panose="02040503050406030204" pitchFamily="18" charset="0"/>
                                          <a:ea typeface="Cambria Math" panose="02040503050406030204" pitchFamily="18" charset="0"/>
                                        </a:rPr>
                                        <m:t> + </m:t>
                                      </m:r>
                                      <m:r>
                                        <a:rPr kumimoji="1" lang="ja-JP" altLang="en-US" sz="2800" b="0" i="1" smtClean="0">
                                          <a:latin typeface="Cambria Math" panose="02040503050406030204" pitchFamily="18" charset="0"/>
                                          <a:ea typeface="Cambria Math" panose="02040503050406030204" pitchFamily="18" charset="0"/>
                                        </a:rPr>
                                        <m:t>𝛿</m:t>
                                      </m:r>
                                    </m:e>
                                  </m:box>
                                </m:num>
                                <m:den>
                                  <m:r>
                                    <a:rPr kumimoji="1" lang="en-US" altLang="ja-JP" sz="2800" b="0" i="1" smtClean="0">
                                      <a:latin typeface="Cambria Math" panose="02040503050406030204" pitchFamily="18" charset="0"/>
                                      <a:ea typeface="Cambria Math" panose="02040503050406030204" pitchFamily="18" charset="0"/>
                                    </a:rPr>
                                    <m:t>1+</m:t>
                                  </m:r>
                                  <m:r>
                                    <a:rPr kumimoji="1" lang="ja-JP" altLang="en-US" sz="2800" b="0" i="1" smtClean="0">
                                      <a:latin typeface="Cambria Math" panose="02040503050406030204" pitchFamily="18" charset="0"/>
                                      <a:ea typeface="Cambria Math" panose="02040503050406030204" pitchFamily="18" charset="0"/>
                                    </a:rPr>
                                    <m:t>𝛿</m:t>
                                  </m:r>
                                </m:den>
                              </m:f>
                            </m:e>
                          </m:box>
                        </m:e>
                      </m:rad>
                    </m:oMath>
                  </m:oMathPara>
                </a14:m>
                <a:endParaRPr kumimoji="1" lang="ja-JP" altLang="en-US" sz="2800" dirty="0"/>
              </a:p>
            </p:txBody>
          </p:sp>
        </mc:Choice>
        <mc:Fallback>
          <p:sp>
            <p:nvSpPr>
              <p:cNvPr id="34" name="テキスト ボックス 33">
                <a:extLst>
                  <a:ext uri="{FF2B5EF4-FFF2-40B4-BE49-F238E27FC236}">
                    <a16:creationId xmlns:a16="http://schemas.microsoft.com/office/drawing/2014/main" id="{CFDBFE4B-0AB0-B8C5-D499-2F0C0FB89E41}"/>
                  </a:ext>
                </a:extLst>
              </p:cNvPr>
              <p:cNvSpPr txBox="1">
                <a:spLocks noRot="1" noChangeAspect="1" noMove="1" noResize="1" noEditPoints="1" noAdjustHandles="1" noChangeArrowheads="1" noChangeShapeType="1" noTextEdit="1"/>
              </p:cNvSpPr>
              <p:nvPr/>
            </p:nvSpPr>
            <p:spPr>
              <a:xfrm>
                <a:off x="3004820" y="1871258"/>
                <a:ext cx="4231640" cy="136537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5" name="テキスト ボックス 34">
                <a:extLst>
                  <a:ext uri="{FF2B5EF4-FFF2-40B4-BE49-F238E27FC236}">
                    <a16:creationId xmlns:a16="http://schemas.microsoft.com/office/drawing/2014/main" id="{59CFBFC0-A61C-7962-A28D-DCAFF4940351}"/>
                  </a:ext>
                </a:extLst>
              </p:cNvPr>
              <p:cNvSpPr txBox="1"/>
              <p:nvPr/>
            </p:nvSpPr>
            <p:spPr>
              <a:xfrm>
                <a:off x="7357110" y="2066847"/>
                <a:ext cx="4231640" cy="97905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kumimoji="1" lang="en-US" altLang="ja-JP" sz="2800" i="1" smtClean="0">
                              <a:latin typeface="Cambria Math" panose="02040503050406030204" pitchFamily="18" charset="0"/>
                            </a:rPr>
                          </m:ctrlPr>
                        </m:fPr>
                        <m:num>
                          <m:r>
                            <a:rPr kumimoji="1" lang="en-US" altLang="ja-JP" sz="2800" i="1" smtClean="0">
                              <a:latin typeface="Cambria Math" panose="02040503050406030204" pitchFamily="18" charset="0"/>
                            </a:rPr>
                            <m:t>𝑑</m:t>
                          </m:r>
                          <m:r>
                            <a:rPr kumimoji="1" lang="ja-JP" altLang="en-US" sz="2800" i="1" smtClean="0">
                              <a:latin typeface="Cambria Math" panose="02040503050406030204" pitchFamily="18" charset="0"/>
                            </a:rPr>
                            <m:t>𝜏</m:t>
                          </m:r>
                        </m:num>
                        <m:den>
                          <m:r>
                            <a:rPr kumimoji="1" lang="en-US" altLang="ja-JP" sz="2800" i="1" smtClean="0">
                              <a:latin typeface="Cambria Math" panose="02040503050406030204" pitchFamily="18" charset="0"/>
                            </a:rPr>
                            <m:t>𝑑</m:t>
                          </m:r>
                          <m:r>
                            <a:rPr kumimoji="1" lang="en-US" altLang="ja-JP" sz="2800" b="0" i="1" smtClean="0">
                              <a:latin typeface="Cambria Math" panose="02040503050406030204" pitchFamily="18" charset="0"/>
                            </a:rPr>
                            <m:t>𝑡</m:t>
                          </m:r>
                        </m:den>
                      </m:f>
                      <m:r>
                        <a:rPr kumimoji="1" lang="en-US" altLang="ja-JP" sz="2800" i="1" smtClean="0">
                          <a:latin typeface="Cambria Math" panose="02040503050406030204" pitchFamily="18" charset="0"/>
                          <a:ea typeface="Cambria Math" panose="02040503050406030204" pitchFamily="18" charset="0"/>
                        </a:rPr>
                        <m:t>=</m:t>
                      </m:r>
                      <m:rad>
                        <m:radPr>
                          <m:degHide m:val="on"/>
                          <m:ctrlPr>
                            <a:rPr kumimoji="1" lang="en-US" altLang="ja-JP" sz="2800" i="1" smtClean="0">
                              <a:latin typeface="Cambria Math" panose="02040503050406030204" pitchFamily="18" charset="0"/>
                              <a:ea typeface="Cambria Math" panose="02040503050406030204" pitchFamily="18" charset="0"/>
                            </a:rPr>
                          </m:ctrlPr>
                        </m:radPr>
                        <m:deg/>
                        <m:e>
                          <m:box>
                            <m:boxPr>
                              <m:ctrlPr>
                                <a:rPr kumimoji="1" lang="en-US" altLang="ja-JP" sz="2800" i="1" smtClean="0">
                                  <a:latin typeface="Cambria Math" panose="02040503050406030204" pitchFamily="18" charset="0"/>
                                  <a:ea typeface="Cambria Math" panose="02040503050406030204" pitchFamily="18" charset="0"/>
                                </a:rPr>
                              </m:ctrlPr>
                            </m:boxPr>
                            <m:e>
                              <m:argPr>
                                <m:argSz m:val="-1"/>
                              </m:argPr>
                              <m:f>
                                <m:fPr>
                                  <m:ctrlPr>
                                    <a:rPr kumimoji="1" lang="en-US" altLang="ja-JP" sz="2800" i="1" smtClean="0">
                                      <a:latin typeface="Cambria Math" panose="02040503050406030204" pitchFamily="18" charset="0"/>
                                      <a:ea typeface="Cambria Math" panose="02040503050406030204" pitchFamily="18" charset="0"/>
                                    </a:rPr>
                                  </m:ctrlPr>
                                </m:fPr>
                                <m:num>
                                  <m:r>
                                    <a:rPr kumimoji="1" lang="en-US" altLang="ja-JP" sz="2800" b="0" i="1" smtClean="0">
                                      <a:latin typeface="Cambria Math" panose="02040503050406030204" pitchFamily="18" charset="0"/>
                                      <a:ea typeface="Cambria Math" panose="02040503050406030204" pitchFamily="18" charset="0"/>
                                    </a:rPr>
                                    <m:t>1 −</m:t>
                                  </m:r>
                                  <m:sSup>
                                    <m:sSupPr>
                                      <m:ctrlPr>
                                        <a:rPr kumimoji="1" lang="en-US" altLang="ja-JP" sz="2800" b="0" i="1" smtClean="0">
                                          <a:latin typeface="Cambria Math" panose="02040503050406030204" pitchFamily="18" charset="0"/>
                                          <a:ea typeface="Cambria Math" panose="02040503050406030204" pitchFamily="18" charset="0"/>
                                        </a:rPr>
                                      </m:ctrlPr>
                                    </m:sSupPr>
                                    <m:e>
                                      <m:r>
                                        <a:rPr kumimoji="1" lang="en-US" altLang="ja-JP" sz="2800" b="0" i="1" smtClean="0">
                                          <a:latin typeface="Cambria Math" panose="02040503050406030204" pitchFamily="18" charset="0"/>
                                          <a:ea typeface="Cambria Math" panose="02040503050406030204" pitchFamily="18" charset="0"/>
                                        </a:rPr>
                                        <m:t> </m:t>
                                      </m:r>
                                      <m:r>
                                        <a:rPr kumimoji="1" lang="en-US" altLang="ja-JP" sz="2800" b="0" i="1" smtClean="0">
                                          <a:latin typeface="Cambria Math" panose="02040503050406030204" pitchFamily="18" charset="0"/>
                                          <a:ea typeface="Cambria Math" panose="02040503050406030204" pitchFamily="18" charset="0"/>
                                        </a:rPr>
                                        <m:t>𝑣</m:t>
                                      </m:r>
                                    </m:e>
                                    <m:sup>
                                      <m:r>
                                        <a:rPr kumimoji="1" lang="en-US" altLang="ja-JP" sz="2800" b="0" i="1" smtClean="0">
                                          <a:latin typeface="Cambria Math" panose="02040503050406030204" pitchFamily="18" charset="0"/>
                                          <a:ea typeface="Cambria Math" panose="02040503050406030204" pitchFamily="18" charset="0"/>
                                        </a:rPr>
                                        <m:t>2</m:t>
                                      </m:r>
                                    </m:sup>
                                  </m:sSup>
                                </m:num>
                                <m:den>
                                  <m:sSup>
                                    <m:sSupPr>
                                      <m:ctrlPr>
                                        <a:rPr kumimoji="1" lang="en-US" altLang="ja-JP" sz="2800" i="1" smtClean="0">
                                          <a:latin typeface="Cambria Math" panose="02040503050406030204" pitchFamily="18" charset="0"/>
                                          <a:ea typeface="Cambria Math" panose="02040503050406030204" pitchFamily="18" charset="0"/>
                                        </a:rPr>
                                      </m:ctrlPr>
                                    </m:sSupPr>
                                    <m:e>
                                      <m:r>
                                        <a:rPr kumimoji="1" lang="en-US" altLang="ja-JP" sz="2800" b="0" i="1" smtClean="0">
                                          <a:latin typeface="Cambria Math" panose="02040503050406030204" pitchFamily="18" charset="0"/>
                                          <a:ea typeface="Cambria Math" panose="02040503050406030204" pitchFamily="18" charset="0"/>
                                        </a:rPr>
                                        <m:t>𝑐</m:t>
                                      </m:r>
                                    </m:e>
                                    <m:sup>
                                      <m:r>
                                        <a:rPr kumimoji="1" lang="en-US" altLang="ja-JP" sz="2800" i="1" smtClean="0">
                                          <a:latin typeface="Cambria Math" panose="02040503050406030204" pitchFamily="18" charset="0"/>
                                          <a:ea typeface="Cambria Math" panose="02040503050406030204" pitchFamily="18" charset="0"/>
                                        </a:rPr>
                                        <m:t>2</m:t>
                                      </m:r>
                                    </m:sup>
                                  </m:sSup>
                                </m:den>
                              </m:f>
                            </m:e>
                          </m:box>
                        </m:e>
                      </m:rad>
                    </m:oMath>
                  </m:oMathPara>
                </a14:m>
                <a:endParaRPr kumimoji="1" lang="ja-JP" altLang="en-US" sz="2800" dirty="0"/>
              </a:p>
            </p:txBody>
          </p:sp>
        </mc:Choice>
        <mc:Fallback>
          <p:sp>
            <p:nvSpPr>
              <p:cNvPr id="35" name="テキスト ボックス 34">
                <a:extLst>
                  <a:ext uri="{FF2B5EF4-FFF2-40B4-BE49-F238E27FC236}">
                    <a16:creationId xmlns:a16="http://schemas.microsoft.com/office/drawing/2014/main" id="{59CFBFC0-A61C-7962-A28D-DCAFF4940351}"/>
                  </a:ext>
                </a:extLst>
              </p:cNvPr>
              <p:cNvSpPr txBox="1">
                <a:spLocks noRot="1" noChangeAspect="1" noMove="1" noResize="1" noEditPoints="1" noAdjustHandles="1" noChangeArrowheads="1" noChangeShapeType="1" noTextEdit="1"/>
              </p:cNvSpPr>
              <p:nvPr/>
            </p:nvSpPr>
            <p:spPr>
              <a:xfrm>
                <a:off x="7357110" y="2066847"/>
                <a:ext cx="4231640" cy="979051"/>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6" name="テキスト ボックス 35">
                <a:extLst>
                  <a:ext uri="{FF2B5EF4-FFF2-40B4-BE49-F238E27FC236}">
                    <a16:creationId xmlns:a16="http://schemas.microsoft.com/office/drawing/2014/main" id="{65AEBF72-04CA-8D1F-AEAD-383B792659C4}"/>
                  </a:ext>
                </a:extLst>
              </p:cNvPr>
              <p:cNvSpPr txBox="1"/>
              <p:nvPr/>
            </p:nvSpPr>
            <p:spPr>
              <a:xfrm>
                <a:off x="2980690" y="4192146"/>
                <a:ext cx="4231640" cy="106048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m:rPr>
                          <m:nor/>
                        </m:rPr>
                        <a:rPr lang="el-GR" altLang="ja-JP" sz="2800" smtClean="0"/>
                        <m:t>Φ</m:t>
                      </m:r>
                      <m:r>
                        <a:rPr kumimoji="1" lang="en-US" altLang="ja-JP" sz="2800" i="1" smtClean="0">
                          <a:latin typeface="Cambria Math" panose="02040503050406030204" pitchFamily="18" charset="0"/>
                          <a:ea typeface="Cambria Math" panose="02040503050406030204" pitchFamily="18" charset="0"/>
                        </a:rPr>
                        <m:t>=−</m:t>
                      </m:r>
                      <m:sSup>
                        <m:sSupPr>
                          <m:ctrlPr>
                            <a:rPr kumimoji="1" lang="en-US" altLang="ja-JP" sz="2800" i="1" smtClean="0">
                              <a:latin typeface="Cambria Math" panose="02040503050406030204" pitchFamily="18" charset="0"/>
                              <a:ea typeface="Cambria Math" panose="02040503050406030204" pitchFamily="18" charset="0"/>
                            </a:rPr>
                          </m:ctrlPr>
                        </m:sSupPr>
                        <m:e>
                          <m:r>
                            <a:rPr kumimoji="1" lang="en-US" altLang="ja-JP" sz="2800" b="0" i="1" smtClean="0">
                              <a:latin typeface="Cambria Math" panose="02040503050406030204" pitchFamily="18" charset="0"/>
                              <a:ea typeface="Cambria Math" panose="02040503050406030204" pitchFamily="18" charset="0"/>
                            </a:rPr>
                            <m:t>𝑐</m:t>
                          </m:r>
                        </m:e>
                        <m:sup>
                          <m:r>
                            <a:rPr kumimoji="1" lang="en-US" altLang="ja-JP" sz="2800" i="1" smtClean="0">
                              <a:latin typeface="Cambria Math" panose="02040503050406030204" pitchFamily="18" charset="0"/>
                              <a:ea typeface="Cambria Math" panose="02040503050406030204" pitchFamily="18" charset="0"/>
                            </a:rPr>
                            <m:t>2</m:t>
                          </m:r>
                        </m:sup>
                      </m:sSup>
                      <m:r>
                        <a:rPr kumimoji="1" lang="en-US" altLang="ja-JP" sz="2800" b="0" i="1" smtClean="0">
                          <a:latin typeface="Cambria Math" panose="02040503050406030204" pitchFamily="18" charset="0"/>
                          <a:ea typeface="Cambria Math" panose="02040503050406030204" pitchFamily="18" charset="0"/>
                        </a:rPr>
                        <m:t>𝑙𝑛</m:t>
                      </m:r>
                      <m:d>
                        <m:dPr>
                          <m:ctrlPr>
                            <a:rPr kumimoji="1" lang="en-US" altLang="ja-JP" sz="2800" b="0" i="1" smtClean="0">
                              <a:latin typeface="Cambria Math" panose="02040503050406030204" pitchFamily="18" charset="0"/>
                              <a:ea typeface="Cambria Math" panose="02040503050406030204" pitchFamily="18" charset="0"/>
                            </a:rPr>
                          </m:ctrlPr>
                        </m:dPr>
                        <m:e>
                          <m:f>
                            <m:fPr>
                              <m:ctrlPr>
                                <a:rPr kumimoji="1" lang="el-GR" altLang="ja-JP" sz="2800" i="1">
                                  <a:latin typeface="Cambria Math" panose="02040503050406030204" pitchFamily="18" charset="0"/>
                                  <a:ea typeface="Cambria Math" panose="02040503050406030204" pitchFamily="18" charset="0"/>
                                </a:rPr>
                              </m:ctrlPr>
                            </m:fPr>
                            <m:num>
                              <m:r>
                                <a:rPr kumimoji="1" lang="en-US" altLang="ja-JP" sz="2800" i="1">
                                  <a:latin typeface="Cambria Math" panose="02040503050406030204" pitchFamily="18" charset="0"/>
                                  <a:ea typeface="Cambria Math" panose="02040503050406030204" pitchFamily="18" charset="0"/>
                                </a:rPr>
                                <m:t>𝑃</m:t>
                              </m:r>
                            </m:num>
                            <m:den>
                              <m:sSub>
                                <m:sSubPr>
                                  <m:ctrlPr>
                                    <a:rPr kumimoji="1" lang="el-GR" altLang="ja-JP" sz="2800" i="1">
                                      <a:latin typeface="Cambria Math" panose="02040503050406030204" pitchFamily="18" charset="0"/>
                                      <a:ea typeface="Cambria Math" panose="02040503050406030204" pitchFamily="18" charset="0"/>
                                    </a:rPr>
                                  </m:ctrlPr>
                                </m:sSubPr>
                                <m:e>
                                  <m:r>
                                    <a:rPr kumimoji="1" lang="en-US" altLang="ja-JP" sz="2800" i="1">
                                      <a:latin typeface="Cambria Math" panose="02040503050406030204" pitchFamily="18" charset="0"/>
                                      <a:ea typeface="Cambria Math" panose="02040503050406030204" pitchFamily="18" charset="0"/>
                                    </a:rPr>
                                    <m:t>𝑃</m:t>
                                  </m:r>
                                </m:e>
                                <m:sub>
                                  <m:r>
                                    <a:rPr kumimoji="1" lang="en-US" altLang="ja-JP" sz="2800" i="1">
                                      <a:latin typeface="Cambria Math" panose="02040503050406030204" pitchFamily="18" charset="0"/>
                                      <a:ea typeface="Cambria Math" panose="02040503050406030204" pitchFamily="18" charset="0"/>
                                    </a:rPr>
                                    <m:t>0</m:t>
                                  </m:r>
                                </m:sub>
                              </m:sSub>
                            </m:den>
                          </m:f>
                        </m:e>
                      </m:d>
                    </m:oMath>
                  </m:oMathPara>
                </a14:m>
                <a:endParaRPr kumimoji="1" lang="ja-JP" altLang="en-US" sz="2800" dirty="0"/>
              </a:p>
            </p:txBody>
          </p:sp>
        </mc:Choice>
        <mc:Fallback>
          <p:sp>
            <p:nvSpPr>
              <p:cNvPr id="36" name="テキスト ボックス 35">
                <a:extLst>
                  <a:ext uri="{FF2B5EF4-FFF2-40B4-BE49-F238E27FC236}">
                    <a16:creationId xmlns:a16="http://schemas.microsoft.com/office/drawing/2014/main" id="{65AEBF72-04CA-8D1F-AEAD-383B792659C4}"/>
                  </a:ext>
                </a:extLst>
              </p:cNvPr>
              <p:cNvSpPr txBox="1">
                <a:spLocks noRot="1" noChangeAspect="1" noMove="1" noResize="1" noEditPoints="1" noAdjustHandles="1" noChangeArrowheads="1" noChangeShapeType="1" noTextEdit="1"/>
              </p:cNvSpPr>
              <p:nvPr/>
            </p:nvSpPr>
            <p:spPr>
              <a:xfrm>
                <a:off x="2980690" y="4192146"/>
                <a:ext cx="4231640" cy="1060483"/>
              </a:xfrm>
              <a:prstGeom prst="rect">
                <a:avLst/>
              </a:prstGeom>
              <a:blipFill>
                <a:blip r:embed="rId5"/>
                <a:stretch>
                  <a:fillRect/>
                </a:stretch>
              </a:blipFill>
            </p:spPr>
            <p:txBody>
              <a:bodyPr/>
              <a:lstStyle/>
              <a:p>
                <a:r>
                  <a:rPr lang="ja-JP" altLang="en-US">
                    <a:noFill/>
                  </a:rPr>
                  <a:t> </a:t>
                </a:r>
              </a:p>
            </p:txBody>
          </p:sp>
        </mc:Fallback>
      </mc:AlternateContent>
      <p:sp>
        <p:nvSpPr>
          <p:cNvPr id="38" name="AutoShape 6">
            <a:extLst>
              <a:ext uri="{FF2B5EF4-FFF2-40B4-BE49-F238E27FC236}">
                <a16:creationId xmlns:a16="http://schemas.microsoft.com/office/drawing/2014/main" id="{02A7EB2D-CAD1-26A9-CC02-4B54EC8FB0AD}"/>
              </a:ext>
            </a:extLst>
          </p:cNvPr>
          <p:cNvSpPr>
            <a:spLocks noChangeAspect="1" noChangeArrowheads="1"/>
          </p:cNvSpPr>
          <p:nvPr/>
        </p:nvSpPr>
        <p:spPr bwMode="auto">
          <a:xfrm>
            <a:off x="8763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mc:AlternateContent xmlns:mc="http://schemas.openxmlformats.org/markup-compatibility/2006">
        <mc:Choice xmlns:a14="http://schemas.microsoft.com/office/drawing/2010/main" Requires="a14">
          <p:sp>
            <p:nvSpPr>
              <p:cNvPr id="39" name="テキスト ボックス 38">
                <a:extLst>
                  <a:ext uri="{FF2B5EF4-FFF2-40B4-BE49-F238E27FC236}">
                    <a16:creationId xmlns:a16="http://schemas.microsoft.com/office/drawing/2014/main" id="{AC50E3B8-3196-5732-8084-9651171179A7}"/>
                  </a:ext>
                </a:extLst>
              </p:cNvPr>
              <p:cNvSpPr txBox="1"/>
              <p:nvPr/>
            </p:nvSpPr>
            <p:spPr>
              <a:xfrm>
                <a:off x="9377680" y="4212590"/>
                <a:ext cx="2211070" cy="67069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𝐺</m:t>
                          </m:r>
                        </m:e>
                        <m:sub>
                          <m:r>
                            <a:rPr kumimoji="1" lang="ja-JP" altLang="en-US" sz="2000" b="0" i="1" smtClean="0">
                              <a:latin typeface="Cambria Math" panose="02040503050406030204" pitchFamily="18" charset="0"/>
                              <a:ea typeface="Cambria Math" panose="02040503050406030204" pitchFamily="18" charset="0"/>
                            </a:rPr>
                            <m:t>𝜇</m:t>
                          </m:r>
                          <m:r>
                            <a:rPr kumimoji="1" lang="en-US" altLang="ja-JP" sz="2000" b="0" i="1" smtClean="0">
                              <a:latin typeface="Cambria Math" panose="02040503050406030204" pitchFamily="18" charset="0"/>
                              <a:ea typeface="Cambria Math" panose="02040503050406030204" pitchFamily="18" charset="0"/>
                            </a:rPr>
                            <m:t>𝑣</m:t>
                          </m:r>
                        </m:sub>
                      </m:sSub>
                      <m:r>
                        <a:rPr kumimoji="1" lang="en-US" altLang="ja-JP" sz="2000" i="1" smtClean="0">
                          <a:latin typeface="Cambria Math" panose="02040503050406030204" pitchFamily="18" charset="0"/>
                          <a:ea typeface="Cambria Math" panose="02040503050406030204" pitchFamily="18" charset="0"/>
                        </a:rPr>
                        <m:t>=</m:t>
                      </m:r>
                      <m:f>
                        <m:fPr>
                          <m:ctrlPr>
                            <a:rPr kumimoji="1" lang="en-US" altLang="ja-JP" sz="2000" i="1">
                              <a:latin typeface="Cambria Math" panose="02040503050406030204" pitchFamily="18" charset="0"/>
                              <a:ea typeface="Cambria Math" panose="02040503050406030204" pitchFamily="18" charset="0"/>
                            </a:rPr>
                          </m:ctrlPr>
                        </m:fPr>
                        <m:num>
                          <m:r>
                            <a:rPr kumimoji="1" lang="en-US" altLang="ja-JP" sz="2000" b="0" i="1" smtClean="0">
                              <a:latin typeface="Cambria Math" panose="02040503050406030204" pitchFamily="18" charset="0"/>
                              <a:ea typeface="Cambria Math" panose="02040503050406030204" pitchFamily="18" charset="0"/>
                            </a:rPr>
                            <m:t>8</m:t>
                          </m:r>
                          <m:r>
                            <a:rPr kumimoji="1" lang="ja-JP" altLang="en-US" sz="2000" b="0" i="1" smtClean="0">
                              <a:latin typeface="Cambria Math" panose="02040503050406030204" pitchFamily="18" charset="0"/>
                              <a:ea typeface="Cambria Math" panose="02040503050406030204" pitchFamily="18" charset="0"/>
                            </a:rPr>
                            <m:t>𝜋</m:t>
                          </m:r>
                          <m:r>
                            <a:rPr kumimoji="1" lang="en-US" altLang="ja-JP" sz="2000" b="0" i="1" smtClean="0">
                              <a:latin typeface="Cambria Math" panose="02040503050406030204" pitchFamily="18" charset="0"/>
                              <a:ea typeface="Cambria Math" panose="02040503050406030204" pitchFamily="18" charset="0"/>
                            </a:rPr>
                            <m:t>𝐺</m:t>
                          </m:r>
                        </m:num>
                        <m:den>
                          <m:sSup>
                            <m:sSupPr>
                              <m:ctrlPr>
                                <a:rPr kumimoji="1" lang="en-US" altLang="ja-JP" sz="2000" i="1">
                                  <a:latin typeface="Cambria Math" panose="02040503050406030204" pitchFamily="18" charset="0"/>
                                  <a:ea typeface="Cambria Math" panose="02040503050406030204" pitchFamily="18" charset="0"/>
                                </a:rPr>
                              </m:ctrlPr>
                            </m:sSupPr>
                            <m:e>
                              <m:r>
                                <a:rPr kumimoji="1" lang="en-US" altLang="ja-JP" sz="2000" i="1">
                                  <a:latin typeface="Cambria Math" panose="02040503050406030204" pitchFamily="18" charset="0"/>
                                  <a:ea typeface="Cambria Math" panose="02040503050406030204" pitchFamily="18" charset="0"/>
                                </a:rPr>
                                <m:t>𝑐</m:t>
                              </m:r>
                            </m:e>
                            <m:sup>
                              <m:r>
                                <a:rPr kumimoji="1" lang="en-US" altLang="ja-JP" sz="2000" b="0" i="1" smtClean="0">
                                  <a:latin typeface="Cambria Math" panose="02040503050406030204" pitchFamily="18" charset="0"/>
                                  <a:ea typeface="Cambria Math" panose="02040503050406030204" pitchFamily="18" charset="0"/>
                                </a:rPr>
                                <m:t>4</m:t>
                              </m:r>
                            </m:sup>
                          </m:sSup>
                        </m:den>
                      </m:f>
                      <m:sSub>
                        <m:sSubPr>
                          <m:ctrlPr>
                            <a:rPr kumimoji="1" lang="en-US" altLang="ja-JP" sz="200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𝑇</m:t>
                          </m:r>
                        </m:e>
                        <m:sub>
                          <m:r>
                            <a:rPr kumimoji="1" lang="ja-JP" altLang="en-US" sz="2000" i="1">
                              <a:latin typeface="Cambria Math" panose="02040503050406030204" pitchFamily="18" charset="0"/>
                              <a:ea typeface="Cambria Math" panose="02040503050406030204" pitchFamily="18" charset="0"/>
                            </a:rPr>
                            <m:t>𝜇</m:t>
                          </m:r>
                          <m:r>
                            <a:rPr kumimoji="1" lang="en-US" altLang="ja-JP" sz="2000" i="1">
                              <a:latin typeface="Cambria Math" panose="02040503050406030204" pitchFamily="18" charset="0"/>
                              <a:ea typeface="Cambria Math" panose="02040503050406030204" pitchFamily="18" charset="0"/>
                            </a:rPr>
                            <m:t>𝑣</m:t>
                          </m:r>
                        </m:sub>
                      </m:sSub>
                    </m:oMath>
                  </m:oMathPara>
                </a14:m>
                <a:endParaRPr kumimoji="1" lang="ja-JP" altLang="en-US" sz="2000" dirty="0"/>
              </a:p>
            </p:txBody>
          </p:sp>
        </mc:Choice>
        <mc:Fallback>
          <p:sp>
            <p:nvSpPr>
              <p:cNvPr id="39" name="テキスト ボックス 38">
                <a:extLst>
                  <a:ext uri="{FF2B5EF4-FFF2-40B4-BE49-F238E27FC236}">
                    <a16:creationId xmlns:a16="http://schemas.microsoft.com/office/drawing/2014/main" id="{AC50E3B8-3196-5732-8084-9651171179A7}"/>
                  </a:ext>
                </a:extLst>
              </p:cNvPr>
              <p:cNvSpPr txBox="1">
                <a:spLocks noRot="1" noChangeAspect="1" noMove="1" noResize="1" noEditPoints="1" noAdjustHandles="1" noChangeArrowheads="1" noChangeShapeType="1" noTextEdit="1"/>
              </p:cNvSpPr>
              <p:nvPr/>
            </p:nvSpPr>
            <p:spPr>
              <a:xfrm>
                <a:off x="9377680" y="4212590"/>
                <a:ext cx="2211070" cy="670696"/>
              </a:xfrm>
              <a:prstGeom prst="rect">
                <a:avLst/>
              </a:prstGeom>
              <a:blipFill>
                <a:blip r:embed="rId6"/>
                <a:stretch>
                  <a:fillRect/>
                </a:stretch>
              </a:blipFill>
            </p:spPr>
            <p:txBody>
              <a:bodyPr/>
              <a:lstStyle/>
              <a:p>
                <a:r>
                  <a:rPr lang="ja-JP" altLang="en-US">
                    <a:noFill/>
                  </a:rPr>
                  <a:t> </a:t>
                </a:r>
              </a:p>
            </p:txBody>
          </p:sp>
        </mc:Fallback>
      </mc:AlternateContent>
      <p:sp>
        <p:nvSpPr>
          <p:cNvPr id="40" name="TextBox 26">
            <a:extLst>
              <a:ext uri="{FF2B5EF4-FFF2-40B4-BE49-F238E27FC236}">
                <a16:creationId xmlns:a16="http://schemas.microsoft.com/office/drawing/2014/main" id="{ACF38A76-2535-089A-6D2B-F2D2C3AD3405}"/>
              </a:ext>
            </a:extLst>
          </p:cNvPr>
          <p:cNvSpPr txBox="1"/>
          <p:nvPr/>
        </p:nvSpPr>
        <p:spPr>
          <a:xfrm>
            <a:off x="7391400" y="4982549"/>
            <a:ext cx="1819910" cy="369332"/>
          </a:xfrm>
          <a:prstGeom prst="rect">
            <a:avLst/>
          </a:prstGeom>
          <a:noFill/>
        </p:spPr>
        <p:txBody>
          <a:bodyPr wrap="square" anchor="t">
            <a:spAutoFit/>
          </a:bodyPr>
          <a:lstStyle/>
          <a:p>
            <a:pPr algn="ctr"/>
            <a:r>
              <a:rPr lang="ja-JP" altLang="en-US" sz="1800" b="1" i="1" dirty="0">
                <a:solidFill>
                  <a:srgbClr val="1E1E1E"/>
                </a:solidFill>
                <a:latin typeface="游ゴシック" panose="020B0400000000000000" pitchFamily="50" charset="-128"/>
                <a:ea typeface="游ゴシック" panose="020B0400000000000000" pitchFamily="50" charset="-128"/>
              </a:rPr>
              <a:t>時空距離の定義</a:t>
            </a:r>
            <a:endParaRPr sz="1800" b="1" i="1" dirty="0">
              <a:solidFill>
                <a:srgbClr val="1E1E1E"/>
              </a:solidFill>
              <a:latin typeface="游ゴシック" panose="020B0400000000000000" pitchFamily="50" charset="-128"/>
              <a:ea typeface="游ゴシック" panose="020B0400000000000000" pitchFamily="50" charset="-128"/>
            </a:endParaRPr>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A8D3AE81-4E9E-FC7D-6180-7E000C56C915}"/>
                  </a:ext>
                </a:extLst>
              </p:cNvPr>
              <p:cNvSpPr txBox="1"/>
              <p:nvPr/>
            </p:nvSpPr>
            <p:spPr>
              <a:xfrm>
                <a:off x="9265920" y="4957469"/>
                <a:ext cx="2322830" cy="43101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kumimoji="1" lang="en-US" altLang="ja-JP" sz="2000" i="1" smtClean="0">
                              <a:latin typeface="Cambria Math" panose="02040503050406030204" pitchFamily="18" charset="0"/>
                              <a:ea typeface="Cambria Math" panose="02040503050406030204" pitchFamily="18" charset="0"/>
                            </a:rPr>
                          </m:ctrlPr>
                        </m:sSubSupPr>
                        <m:e>
                          <m:r>
                            <a:rPr kumimoji="1" lang="en-US" altLang="ja-JP" sz="2000" b="0" i="1" smtClean="0">
                              <a:latin typeface="Cambria Math" panose="02040503050406030204" pitchFamily="18" charset="0"/>
                              <a:ea typeface="Cambria Math" panose="02040503050406030204" pitchFamily="18" charset="0"/>
                            </a:rPr>
                            <m:t>𝑑</m:t>
                          </m:r>
                        </m:e>
                        <m:sub>
                          <m:r>
                            <a:rPr kumimoji="1" lang="en-US" altLang="ja-JP" sz="2000" b="0" i="1" smtClean="0">
                              <a:latin typeface="Cambria Math" panose="02040503050406030204" pitchFamily="18" charset="0"/>
                              <a:ea typeface="Cambria Math" panose="02040503050406030204" pitchFamily="18" charset="0"/>
                            </a:rPr>
                            <m:t>𝑠</m:t>
                          </m:r>
                        </m:sub>
                        <m:sup>
                          <m:r>
                            <a:rPr kumimoji="1" lang="en-US" altLang="ja-JP" sz="2000" b="0" i="1" smtClean="0">
                              <a:latin typeface="Cambria Math" panose="02040503050406030204" pitchFamily="18" charset="0"/>
                              <a:ea typeface="Cambria Math" panose="02040503050406030204" pitchFamily="18" charset="0"/>
                            </a:rPr>
                            <m:t>2</m:t>
                          </m:r>
                        </m:sup>
                      </m:sSubSup>
                      <m:r>
                        <a:rPr kumimoji="1" lang="en-US" altLang="ja-JP" sz="2000" i="1" smtClean="0">
                          <a:latin typeface="Cambria Math" panose="02040503050406030204" pitchFamily="18" charset="0"/>
                          <a:ea typeface="Cambria Math" panose="02040503050406030204" pitchFamily="18" charset="0"/>
                        </a:rPr>
                        <m:t>=</m:t>
                      </m:r>
                      <m:sSub>
                        <m:sSubPr>
                          <m:ctrlPr>
                            <a:rPr kumimoji="1" lang="en-US" altLang="ja-JP" sz="2000" i="1">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𝑔</m:t>
                          </m:r>
                        </m:e>
                        <m:sub>
                          <m:r>
                            <a:rPr kumimoji="1" lang="ja-JP" altLang="en-US" sz="2000" i="1">
                              <a:latin typeface="Cambria Math" panose="02040503050406030204" pitchFamily="18" charset="0"/>
                              <a:ea typeface="Cambria Math" panose="02040503050406030204" pitchFamily="18" charset="0"/>
                            </a:rPr>
                            <m:t>𝜇</m:t>
                          </m:r>
                          <m:r>
                            <a:rPr kumimoji="1" lang="en-US" altLang="ja-JP" sz="2000" i="1">
                              <a:latin typeface="Cambria Math" panose="02040503050406030204" pitchFamily="18" charset="0"/>
                              <a:ea typeface="Cambria Math" panose="02040503050406030204" pitchFamily="18" charset="0"/>
                            </a:rPr>
                            <m:t>𝑣</m:t>
                          </m:r>
                        </m:sub>
                      </m:sSub>
                      <m:r>
                        <a:rPr kumimoji="1" lang="en-US" altLang="ja-JP" sz="2000" b="0" i="1" smtClean="0">
                          <a:latin typeface="Cambria Math" panose="02040503050406030204" pitchFamily="18" charset="0"/>
                          <a:ea typeface="Cambria Math" panose="02040503050406030204" pitchFamily="18" charset="0"/>
                        </a:rPr>
                        <m:t>𝑑</m:t>
                      </m:r>
                      <m:sSup>
                        <m:sSupPr>
                          <m:ctrlPr>
                            <a:rPr kumimoji="1" lang="en-US" altLang="ja-JP" sz="2000" b="0" i="1" smtClean="0">
                              <a:latin typeface="Cambria Math" panose="02040503050406030204" pitchFamily="18" charset="0"/>
                              <a:ea typeface="Cambria Math" panose="02040503050406030204" pitchFamily="18" charset="0"/>
                            </a:rPr>
                          </m:ctrlPr>
                        </m:sSupPr>
                        <m:e>
                          <m:r>
                            <a:rPr kumimoji="1" lang="en-US" altLang="ja-JP" sz="2000" b="0" i="1" smtClean="0">
                              <a:latin typeface="Cambria Math" panose="02040503050406030204" pitchFamily="18" charset="0"/>
                              <a:ea typeface="Cambria Math" panose="02040503050406030204" pitchFamily="18" charset="0"/>
                            </a:rPr>
                            <m:t>𝑥</m:t>
                          </m:r>
                        </m:e>
                        <m:sup>
                          <m:r>
                            <a:rPr kumimoji="1" lang="ja-JP" altLang="en-US" sz="2000" b="0" i="1" smtClean="0">
                              <a:latin typeface="Cambria Math" panose="02040503050406030204" pitchFamily="18" charset="0"/>
                              <a:ea typeface="Cambria Math" panose="02040503050406030204" pitchFamily="18" charset="0"/>
                            </a:rPr>
                            <m:t>𝜇</m:t>
                          </m:r>
                        </m:sup>
                      </m:sSup>
                      <m:r>
                        <a:rPr kumimoji="1" lang="en-US" altLang="ja-JP" sz="2000" b="0" i="1" smtClean="0">
                          <a:latin typeface="Cambria Math" panose="02040503050406030204" pitchFamily="18" charset="0"/>
                          <a:ea typeface="Cambria Math" panose="02040503050406030204" pitchFamily="18" charset="0"/>
                        </a:rPr>
                        <m:t>𝑑</m:t>
                      </m:r>
                      <m:sSup>
                        <m:sSupPr>
                          <m:ctrlPr>
                            <a:rPr kumimoji="1" lang="en-US" altLang="ja-JP" sz="2000" b="0" i="1" smtClean="0">
                              <a:latin typeface="Cambria Math" panose="02040503050406030204" pitchFamily="18" charset="0"/>
                              <a:ea typeface="Cambria Math" panose="02040503050406030204" pitchFamily="18" charset="0"/>
                            </a:rPr>
                          </m:ctrlPr>
                        </m:sSupPr>
                        <m:e>
                          <m:r>
                            <a:rPr kumimoji="1" lang="en-US" altLang="ja-JP" sz="2000" b="0" i="1" smtClean="0">
                              <a:latin typeface="Cambria Math" panose="02040503050406030204" pitchFamily="18" charset="0"/>
                              <a:ea typeface="Cambria Math" panose="02040503050406030204" pitchFamily="18" charset="0"/>
                            </a:rPr>
                            <m:t>𝑥</m:t>
                          </m:r>
                        </m:e>
                        <m:sup>
                          <m:r>
                            <a:rPr kumimoji="1" lang="en-US" altLang="ja-JP" sz="2000" b="0" i="1" smtClean="0">
                              <a:latin typeface="Cambria Math" panose="02040503050406030204" pitchFamily="18" charset="0"/>
                              <a:ea typeface="Cambria Math" panose="02040503050406030204" pitchFamily="18" charset="0"/>
                            </a:rPr>
                            <m:t>𝑣</m:t>
                          </m:r>
                        </m:sup>
                      </m:sSup>
                    </m:oMath>
                  </m:oMathPara>
                </a14:m>
                <a:endParaRPr kumimoji="1" lang="ja-JP" altLang="en-US" sz="2000" dirty="0"/>
              </a:p>
            </p:txBody>
          </p:sp>
        </mc:Choice>
        <mc:Fallback>
          <p:sp>
            <p:nvSpPr>
              <p:cNvPr id="41" name="テキスト ボックス 40">
                <a:extLst>
                  <a:ext uri="{FF2B5EF4-FFF2-40B4-BE49-F238E27FC236}">
                    <a16:creationId xmlns:a16="http://schemas.microsoft.com/office/drawing/2014/main" id="{A8D3AE81-4E9E-FC7D-6180-7E000C56C915}"/>
                  </a:ext>
                </a:extLst>
              </p:cNvPr>
              <p:cNvSpPr txBox="1">
                <a:spLocks noRot="1" noChangeAspect="1" noMove="1" noResize="1" noEditPoints="1" noAdjustHandles="1" noChangeArrowheads="1" noChangeShapeType="1" noTextEdit="1"/>
              </p:cNvSpPr>
              <p:nvPr/>
            </p:nvSpPr>
            <p:spPr>
              <a:xfrm>
                <a:off x="9265920" y="4957469"/>
                <a:ext cx="2322830" cy="431015"/>
              </a:xfrm>
              <a:prstGeom prst="rect">
                <a:avLst/>
              </a:prstGeom>
              <a:blipFill>
                <a:blip r:embed="rId7"/>
                <a:stretch>
                  <a:fillRect b="-5634"/>
                </a:stretch>
              </a:blipFill>
            </p:spPr>
            <p:txBody>
              <a:bodyPr/>
              <a:lstStyle/>
              <a:p>
                <a:r>
                  <a:rPr lang="ja-JP" altLang="en-US">
                    <a:noFill/>
                  </a:rPr>
                  <a:t> </a:t>
                </a:r>
              </a:p>
            </p:txBody>
          </p:sp>
        </mc:Fallback>
      </mc:AlternateContent>
      <p:sp>
        <p:nvSpPr>
          <p:cNvPr id="42" name="TextBox 20">
            <a:extLst>
              <a:ext uri="{FF2B5EF4-FFF2-40B4-BE49-F238E27FC236}">
                <a16:creationId xmlns:a16="http://schemas.microsoft.com/office/drawing/2014/main" id="{4A260F79-B238-EE20-95D3-F3CBB2C7EFAE}"/>
              </a:ext>
            </a:extLst>
          </p:cNvPr>
          <p:cNvSpPr txBox="1"/>
          <p:nvPr/>
        </p:nvSpPr>
        <p:spPr>
          <a:xfrm>
            <a:off x="7504430" y="3140077"/>
            <a:ext cx="4023360" cy="276999"/>
          </a:xfrm>
          <a:prstGeom prst="rect">
            <a:avLst/>
          </a:prstGeom>
          <a:noFill/>
        </p:spPr>
        <p:txBody>
          <a:bodyPr wrap="square" anchor="t">
            <a:spAutoFit/>
          </a:bodyPr>
          <a:lstStyle/>
          <a:p>
            <a:pPr algn="ctr"/>
            <a:r>
              <a:rPr lang="en-US" altLang="ja-JP" sz="1200" b="1" dirty="0">
                <a:latin typeface="游ゴシック" panose="020B0400000000000000" pitchFamily="50" charset="-128"/>
                <a:ea typeface="游ゴシック" panose="020B0400000000000000" pitchFamily="50" charset="-128"/>
              </a:rPr>
              <a:t>※</a:t>
            </a:r>
            <a:r>
              <a:rPr lang="ja-JP" altLang="en-US" sz="1200" b="1" dirty="0">
                <a:latin typeface="游ゴシック" panose="020B0400000000000000" pitchFamily="50" charset="-128"/>
                <a:ea typeface="游ゴシック" panose="020B0400000000000000" pitchFamily="50" charset="-128"/>
              </a:rPr>
              <a:t>特殊相対論（重力なし）の時間遅れ</a:t>
            </a:r>
            <a:endParaRPr sz="1200" b="1" i="0" dirty="0">
              <a:latin typeface="游ゴシック" panose="020B0400000000000000" pitchFamily="50" charset="-128"/>
              <a:ea typeface="游ゴシック" panose="020B0400000000000000" pitchFamily="50" charset="-128"/>
            </a:endParaRPr>
          </a:p>
        </p:txBody>
      </p:sp>
      <mc:AlternateContent xmlns:mc="http://schemas.openxmlformats.org/markup-compatibility/2006">
        <mc:Choice xmlns:a14="http://schemas.microsoft.com/office/drawing/2010/main" Requires="a14">
          <p:sp>
            <p:nvSpPr>
              <p:cNvPr id="43" name="TextBox 20">
                <a:extLst>
                  <a:ext uri="{FF2B5EF4-FFF2-40B4-BE49-F238E27FC236}">
                    <a16:creationId xmlns:a16="http://schemas.microsoft.com/office/drawing/2014/main" id="{ED209C71-AF99-86C8-B627-72D5ADACC415}"/>
                  </a:ext>
                </a:extLst>
              </p:cNvPr>
              <p:cNvSpPr txBox="1"/>
              <p:nvPr/>
            </p:nvSpPr>
            <p:spPr>
              <a:xfrm>
                <a:off x="3011170" y="5296902"/>
                <a:ext cx="4185920" cy="276999"/>
              </a:xfrm>
              <a:prstGeom prst="rect">
                <a:avLst/>
              </a:prstGeom>
              <a:noFill/>
            </p:spPr>
            <p:txBody>
              <a:bodyPr wrap="square" anchor="t">
                <a:spAutoFit/>
              </a:bodyPr>
              <a:lstStyle/>
              <a:p>
                <a:pPr algn="ctr"/>
                <a:r>
                  <a:rPr lang="en-US" altLang="ja-JP" sz="1200" b="1" dirty="0">
                    <a:latin typeface="游ゴシック" panose="020B0400000000000000" pitchFamily="50" charset="-128"/>
                    <a:ea typeface="游ゴシック" panose="020B0400000000000000" pitchFamily="50" charset="-128"/>
                  </a:rPr>
                  <a:t>※</a:t>
                </a:r>
                <a14:m>
                  <m:oMath xmlns:m="http://schemas.openxmlformats.org/officeDocument/2006/math">
                    <m:r>
                      <a:rPr lang="en-US" altLang="ja-JP" sz="1200" b="1" i="1" smtClean="0">
                        <a:latin typeface="Cambria Math" panose="02040503050406030204" pitchFamily="18" charset="0"/>
                        <a:ea typeface="游ゴシック" panose="020B0400000000000000" pitchFamily="50" charset="-128"/>
                      </a:rPr>
                      <m:t>𝒍𝒏</m:t>
                    </m:r>
                  </m:oMath>
                </a14:m>
                <a:r>
                  <a:rPr lang="ja-JP" altLang="en-US" sz="1200" b="1" dirty="0">
                    <a:latin typeface="游ゴシック" panose="020B0400000000000000" pitchFamily="50" charset="-128"/>
                    <a:ea typeface="游ゴシック" panose="020B0400000000000000" pitchFamily="50" charset="-128"/>
                  </a:rPr>
                  <a:t>：倍率（</a:t>
                </a:r>
                <a:r>
                  <a:rPr lang="en-US" altLang="ja-JP" sz="1200" b="1" dirty="0">
                    <a:latin typeface="游ゴシック" panose="020B0400000000000000" pitchFamily="50" charset="-128"/>
                    <a:ea typeface="游ゴシック" panose="020B0400000000000000" pitchFamily="50" charset="-128"/>
                  </a:rPr>
                  <a:t>P/P0</a:t>
                </a:r>
                <a:r>
                  <a:rPr lang="ja-JP" altLang="en-US" sz="1200" b="1" dirty="0">
                    <a:latin typeface="游ゴシック" panose="020B0400000000000000" pitchFamily="50" charset="-128"/>
                    <a:ea typeface="游ゴシック" panose="020B0400000000000000" pitchFamily="50" charset="-128"/>
                  </a:rPr>
                  <a:t>）を“深さ”の概念に変換</a:t>
                </a:r>
                <a:endParaRPr sz="1200" b="1" i="0" dirty="0">
                  <a:latin typeface="游ゴシック" panose="020B0400000000000000" pitchFamily="50" charset="-128"/>
                  <a:ea typeface="游ゴシック" panose="020B0400000000000000" pitchFamily="50" charset="-128"/>
                </a:endParaRPr>
              </a:p>
            </p:txBody>
          </p:sp>
        </mc:Choice>
        <mc:Fallback>
          <p:sp>
            <p:nvSpPr>
              <p:cNvPr id="43" name="TextBox 20">
                <a:extLst>
                  <a:ext uri="{FF2B5EF4-FFF2-40B4-BE49-F238E27FC236}">
                    <a16:creationId xmlns:a16="http://schemas.microsoft.com/office/drawing/2014/main" id="{ED209C71-AF99-86C8-B627-72D5ADACC415}"/>
                  </a:ext>
                </a:extLst>
              </p:cNvPr>
              <p:cNvSpPr txBox="1">
                <a:spLocks noRot="1" noChangeAspect="1" noMove="1" noResize="1" noEditPoints="1" noAdjustHandles="1" noChangeArrowheads="1" noChangeShapeType="1" noTextEdit="1"/>
              </p:cNvSpPr>
              <p:nvPr/>
            </p:nvSpPr>
            <p:spPr>
              <a:xfrm>
                <a:off x="3011170" y="5296902"/>
                <a:ext cx="4185920" cy="276999"/>
              </a:xfrm>
              <a:prstGeom prst="rect">
                <a:avLst/>
              </a:prstGeom>
              <a:blipFill>
                <a:blip r:embed="rId8"/>
                <a:stretch>
                  <a:fillRect t="-2222" b="-17778"/>
                </a:stretch>
              </a:blipFill>
            </p:spPr>
            <p:txBody>
              <a:bodyPr/>
              <a:lstStyle/>
              <a:p>
                <a:r>
                  <a:rPr lang="ja-JP" altLang="en-US">
                    <a:noFill/>
                  </a:rPr>
                  <a:t> </a:t>
                </a:r>
              </a:p>
            </p:txBody>
          </p:sp>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155680" cy="548640"/>
          </a:xfrm>
          <a:prstGeom prst="rect">
            <a:avLst/>
          </a:prstGeom>
          <a:noFill/>
        </p:spPr>
        <p:txBody>
          <a:bodyPr wrap="square" anchor="t">
            <a:spAutoFit/>
          </a:bodyPr>
          <a:lstStyle/>
          <a:p>
            <a:pPr algn="l"/>
            <a:r>
              <a:rPr sz="3000" b="1" i="0">
                <a:solidFill>
                  <a:srgbClr val="1E1E1E"/>
                </a:solidFill>
                <a:latin typeface="Meiryo"/>
              </a:rPr>
              <a:t>P-model の変数・パラメータ（記号の意味）</a:t>
            </a:r>
          </a:p>
        </p:txBody>
      </p:sp>
      <p:sp>
        <p:nvSpPr>
          <p:cNvPr id="3" name="Rectangle 2"/>
          <p:cNvSpPr/>
          <p:nvPr/>
        </p:nvSpPr>
        <p:spPr>
          <a:xfrm>
            <a:off x="548640" y="868680"/>
            <a:ext cx="11155680" cy="25400"/>
          </a:xfrm>
          <a:prstGeom prst="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graphicFrame>
            <p:nvGraphicFramePr>
              <p:cNvPr id="38" name="表 37">
                <a:extLst>
                  <a:ext uri="{FF2B5EF4-FFF2-40B4-BE49-F238E27FC236}">
                    <a16:creationId xmlns:a16="http://schemas.microsoft.com/office/drawing/2014/main" id="{5D3C47FD-0134-C5A6-37C4-56399BD49AA1}"/>
                  </a:ext>
                </a:extLst>
              </p:cNvPr>
              <p:cNvGraphicFramePr>
                <a:graphicFrameLocks noGrp="1"/>
              </p:cNvGraphicFramePr>
              <p:nvPr>
                <p:extLst>
                  <p:ext uri="{D42A27DB-BD31-4B8C-83A1-F6EECF244321}">
                    <p14:modId xmlns:p14="http://schemas.microsoft.com/office/powerpoint/2010/main" val="1089253183"/>
                  </p:ext>
                </p:extLst>
              </p:nvPr>
            </p:nvGraphicFramePr>
            <p:xfrm>
              <a:off x="815954" y="1118045"/>
              <a:ext cx="10621052" cy="5341421"/>
            </p:xfrm>
            <a:graphic>
              <a:graphicData uri="http://schemas.openxmlformats.org/drawingml/2006/table">
                <a:tbl>
                  <a:tblPr firstRow="1" bandRow="1">
                    <a:tableStyleId>{5C22544A-7EE6-4342-B048-85BDC9FD1C3A}</a:tableStyleId>
                  </a:tblPr>
                  <a:tblGrid>
                    <a:gridCol w="830431">
                      <a:extLst>
                        <a:ext uri="{9D8B030D-6E8A-4147-A177-3AD203B41FA5}">
                          <a16:colId xmlns:a16="http://schemas.microsoft.com/office/drawing/2014/main" val="1344905087"/>
                        </a:ext>
                      </a:extLst>
                    </a:gridCol>
                    <a:gridCol w="2076768">
                      <a:extLst>
                        <a:ext uri="{9D8B030D-6E8A-4147-A177-3AD203B41FA5}">
                          <a16:colId xmlns:a16="http://schemas.microsoft.com/office/drawing/2014/main" val="2630913263"/>
                        </a:ext>
                      </a:extLst>
                    </a:gridCol>
                    <a:gridCol w="906653">
                      <a:extLst>
                        <a:ext uri="{9D8B030D-6E8A-4147-A177-3AD203B41FA5}">
                          <a16:colId xmlns:a16="http://schemas.microsoft.com/office/drawing/2014/main" val="1747158198"/>
                        </a:ext>
                      </a:extLst>
                    </a:gridCol>
                    <a:gridCol w="6807200">
                      <a:extLst>
                        <a:ext uri="{9D8B030D-6E8A-4147-A177-3AD203B41FA5}">
                          <a16:colId xmlns:a16="http://schemas.microsoft.com/office/drawing/2014/main" val="776966357"/>
                        </a:ext>
                      </a:extLst>
                    </a:gridCol>
                  </a:tblGrid>
                  <a:tr h="460070">
                    <a:tc>
                      <a:txBody>
                        <a:bodyPr/>
                        <a:lstStyle/>
                        <a:p>
                          <a:pPr algn="ctr"/>
                          <a:r>
                            <a:rPr kumimoji="1" lang="ja-JP" altLang="en-US" sz="1600" dirty="0">
                              <a:latin typeface="游ゴシック" panose="020B0400000000000000" pitchFamily="50" charset="-128"/>
                              <a:ea typeface="游ゴシック" panose="020B0400000000000000" pitchFamily="50" charset="-128"/>
                            </a:rPr>
                            <a:t>変数</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名称</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単位</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解説</a:t>
                          </a:r>
                        </a:p>
                      </a:txBody>
                      <a:tcPr/>
                    </a:tc>
                    <a:extLst>
                      <a:ext uri="{0D108BD9-81ED-4DB2-BD59-A6C34878D82A}">
                        <a16:rowId xmlns:a16="http://schemas.microsoft.com/office/drawing/2014/main" val="2244143122"/>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𝑐</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光の速度</a:t>
                          </a:r>
                        </a:p>
                      </a:txBody>
                      <a:tcPr/>
                    </a:tc>
                    <a:tc>
                      <a:txBody>
                        <a:bodyPr/>
                        <a:lstStyle/>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ea typeface="游ゴシック" panose="020B0400000000000000" pitchFamily="50" charset="-128"/>
                                  </a:rPr>
                                  <m:t>𝒎</m:t>
                                </m:r>
                                <m:r>
                                  <a:rPr kumimoji="1" lang="en-US" altLang="ja-JP" b="1" i="1" smtClean="0">
                                    <a:latin typeface="Cambria Math" panose="02040503050406030204" pitchFamily="18" charset="0"/>
                                    <a:ea typeface="游ゴシック" panose="020B0400000000000000" pitchFamily="50" charset="-128"/>
                                  </a:rPr>
                                  <m:t>/</m:t>
                                </m:r>
                                <m:r>
                                  <a:rPr kumimoji="1" lang="en-US" altLang="ja-JP" b="1" i="1" smtClean="0">
                                    <a:latin typeface="Cambria Math" panose="02040503050406030204" pitchFamily="18" charset="0"/>
                                    <a:ea typeface="游ゴシック" panose="020B0400000000000000" pitchFamily="50" charset="-128"/>
                                  </a:rPr>
                                  <m:t>𝒔</m:t>
                                </m:r>
                              </m:oMath>
                            </m:oMathPara>
                          </a14:m>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kumimoji="1" lang="ja-JP" altLang="en-US" b="1" dirty="0">
                              <a:latin typeface="游ゴシック" panose="020B0400000000000000" pitchFamily="50" charset="-128"/>
                              <a:ea typeface="游ゴシック" panose="020B0400000000000000" pitchFamily="50" charset="-128"/>
                            </a:rPr>
                            <a:t>真空中の光速度（定数）</a:t>
                          </a:r>
                        </a:p>
                      </a:txBody>
                      <a:tcPr/>
                    </a:tc>
                    <a:extLst>
                      <a:ext uri="{0D108BD9-81ED-4DB2-BD59-A6C34878D82A}">
                        <a16:rowId xmlns:a16="http://schemas.microsoft.com/office/drawing/2014/main" val="4228852717"/>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𝑣</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速度</a:t>
                          </a:r>
                        </a:p>
                      </a:txBody>
                      <a:tcPr/>
                    </a:tc>
                    <a:tc>
                      <a:txBody>
                        <a:bodyPr/>
                        <a:lstStyle/>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ea typeface="游ゴシック" panose="020B0400000000000000" pitchFamily="50" charset="-128"/>
                                  </a:rPr>
                                  <m:t>𝒎</m:t>
                                </m:r>
                                <m:r>
                                  <a:rPr kumimoji="1" lang="en-US" altLang="ja-JP" b="1" i="1" smtClean="0">
                                    <a:latin typeface="Cambria Math" panose="02040503050406030204" pitchFamily="18" charset="0"/>
                                    <a:ea typeface="游ゴシック" panose="020B0400000000000000" pitchFamily="50" charset="-128"/>
                                  </a:rPr>
                                  <m:t>/</m:t>
                                </m:r>
                                <m:r>
                                  <a:rPr kumimoji="1" lang="en-US" altLang="ja-JP" b="1" i="1" smtClean="0">
                                    <a:latin typeface="Cambria Math" panose="02040503050406030204" pitchFamily="18" charset="0"/>
                                    <a:ea typeface="游ゴシック" panose="020B0400000000000000" pitchFamily="50" charset="-128"/>
                                  </a:rPr>
                                  <m:t>𝒔</m:t>
                                </m:r>
                              </m:oMath>
                            </m:oMathPara>
                          </a14:m>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kumimoji="1" lang="ja-JP" altLang="en-US" b="1" dirty="0">
                              <a:latin typeface="游ゴシック" panose="020B0400000000000000" pitchFamily="50" charset="-128"/>
                              <a:ea typeface="游ゴシック" panose="020B0400000000000000" pitchFamily="50" charset="-128"/>
                            </a:rPr>
                            <a:t>観測対象の移動速度</a:t>
                          </a:r>
                        </a:p>
                      </a:txBody>
                      <a:tcPr/>
                    </a:tc>
                    <a:extLst>
                      <a:ext uri="{0D108BD9-81ED-4DB2-BD59-A6C34878D82A}">
                        <a16:rowId xmlns:a16="http://schemas.microsoft.com/office/drawing/2014/main" val="1750437651"/>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ja-JP" altLang="en-US" i="1" smtClean="0">
                                    <a:latin typeface="Cambria Math" panose="02040503050406030204" pitchFamily="18" charset="0"/>
                                  </a:rPr>
                                  <m:t>𝛿</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飽和パラメータ</a:t>
                          </a:r>
                        </a:p>
                      </a:txBody>
                      <a:tcPr/>
                    </a:tc>
                    <a:tc>
                      <a:txBody>
                        <a:bodyPr/>
                        <a:lstStyle/>
                        <a:p>
                          <a:pPr algn="ctr"/>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lang="en-US" altLang="ja-JP" b="1" dirty="0" err="1">
                              <a:effectLst/>
                              <a:latin typeface="游ゴシック" panose="020B0400000000000000" pitchFamily="50" charset="-128"/>
                              <a:ea typeface="游ゴシック" panose="020B0400000000000000" pitchFamily="50" charset="-128"/>
                            </a:rPr>
                            <a:t>v→</a:t>
                          </a:r>
                          <a:r>
                            <a:rPr lang="en-US" altLang="ja-JP" b="1" dirty="0" err="1">
                              <a:latin typeface="游ゴシック" panose="020B0400000000000000" pitchFamily="50" charset="-128"/>
                              <a:ea typeface="游ゴシック" panose="020B0400000000000000" pitchFamily="50" charset="-128"/>
                            </a:rPr>
                            <a:t>c</a:t>
                          </a:r>
                          <a:r>
                            <a:rPr lang="en-US" altLang="ja-JP" b="1" dirty="0">
                              <a:latin typeface="游ゴシック" panose="020B0400000000000000" pitchFamily="50" charset="-128"/>
                              <a:ea typeface="游ゴシック" panose="020B0400000000000000" pitchFamily="50" charset="-128"/>
                            </a:rPr>
                            <a:t> </a:t>
                          </a:r>
                          <a:r>
                            <a:rPr lang="ja-JP" altLang="en-US" b="1" dirty="0">
                              <a:latin typeface="游ゴシック" panose="020B0400000000000000" pitchFamily="50" charset="-128"/>
                              <a:ea typeface="游ゴシック" panose="020B0400000000000000" pitchFamily="50" charset="-128"/>
                            </a:rPr>
                            <a:t>で時間が</a:t>
                          </a:r>
                          <a:r>
                            <a:rPr lang="en-US" altLang="ja-JP" b="1" dirty="0">
                              <a:latin typeface="游ゴシック" panose="020B0400000000000000" pitchFamily="50" charset="-128"/>
                              <a:ea typeface="游ゴシック" panose="020B0400000000000000" pitchFamily="50" charset="-128"/>
                            </a:rPr>
                            <a:t>0</a:t>
                          </a:r>
                          <a:r>
                            <a:rPr lang="ja-JP" altLang="en-US" b="1" dirty="0">
                              <a:latin typeface="游ゴシック" panose="020B0400000000000000" pitchFamily="50" charset="-128"/>
                              <a:ea typeface="游ゴシック" panose="020B0400000000000000" pitchFamily="50" charset="-128"/>
                            </a:rPr>
                            <a:t>にならないための</a:t>
                          </a:r>
                          <a:r>
                            <a:rPr lang="en-US" altLang="ja-JP" b="1" dirty="0">
                              <a:latin typeface="游ゴシック" panose="020B0400000000000000" pitchFamily="50" charset="-128"/>
                              <a:ea typeface="游ゴシック" panose="020B0400000000000000" pitchFamily="50" charset="-128"/>
                            </a:rPr>
                            <a:t>P-model</a:t>
                          </a:r>
                          <a:r>
                            <a:rPr lang="ja-JP" altLang="en-US" b="1" dirty="0">
                              <a:latin typeface="游ゴシック" panose="020B0400000000000000" pitchFamily="50" charset="-128"/>
                              <a:ea typeface="游ゴシック" panose="020B0400000000000000" pitchFamily="50" charset="-128"/>
                            </a:rPr>
                            <a:t>固有定数（無次元）</a:t>
                          </a:r>
                          <a:endParaRPr kumimoji="1" lang="ja-JP" altLang="en-US" b="1"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13789195"/>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時間波密度</a:t>
                          </a:r>
                        </a:p>
                      </a:txBody>
                      <a:tcPr/>
                    </a:tc>
                    <a:tc>
                      <a:txBody>
                        <a:bodyPr/>
                        <a:lstStyle/>
                        <a:p>
                          <a:pPr algn="ctr"/>
                          <a:r>
                            <a:rPr kumimoji="1" lang="ja-JP" altLang="en-US" b="1" dirty="0">
                              <a:latin typeface="游ゴシック" panose="020B0400000000000000" pitchFamily="50" charset="-128"/>
                              <a:ea typeface="游ゴシック" panose="020B0400000000000000" pitchFamily="50" charset="-128"/>
                            </a:rPr>
                            <a:t>任意</a:t>
                          </a:r>
                        </a:p>
                      </a:txBody>
                      <a:tcPr/>
                    </a:tc>
                    <a:tc>
                      <a:txBody>
                        <a:bodyPr/>
                        <a:lstStyle/>
                        <a:p>
                          <a:r>
                            <a:rPr kumimoji="1" lang="ja-JP" altLang="en-US" b="1" dirty="0">
                              <a:latin typeface="游ゴシック" panose="020B0400000000000000" pitchFamily="50" charset="-128"/>
                              <a:ea typeface="游ゴシック" panose="020B0400000000000000" pitchFamily="50" charset="-128"/>
                            </a:rPr>
                            <a:t>時間の刻みの細かさを表すスカラー量</a:t>
                          </a:r>
                        </a:p>
                      </a:txBody>
                      <a:tcPr/>
                    </a:tc>
                    <a:extLst>
                      <a:ext uri="{0D108BD9-81ED-4DB2-BD59-A6C34878D82A}">
                        <a16:rowId xmlns:a16="http://schemas.microsoft.com/office/drawing/2014/main" val="11616117"/>
                      </a:ext>
                    </a:extLst>
                  </a:tr>
                  <a:tr h="460070">
                    <a:tc>
                      <a:txBody>
                        <a:bodyPr/>
                        <a:lstStyle/>
                        <a:p>
                          <a:pPr algn="ct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0</m:t>
                                    </m:r>
                                  </m:sub>
                                </m:sSub>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基準密度</a:t>
                          </a:r>
                        </a:p>
                      </a:txBody>
                      <a:tcPr/>
                    </a:tc>
                    <a:tc>
                      <a:txBody>
                        <a:bodyPr/>
                        <a:lstStyle/>
                        <a:p>
                          <a:pPr algn="ctr"/>
                          <a:r>
                            <a:rPr kumimoji="1" lang="ja-JP" altLang="en-US" b="1" dirty="0">
                              <a:latin typeface="游ゴシック" panose="020B0400000000000000" pitchFamily="50" charset="-128"/>
                              <a:ea typeface="游ゴシック" panose="020B0400000000000000" pitchFamily="50" charset="-128"/>
                            </a:rPr>
                            <a:t>任意</a:t>
                          </a:r>
                        </a:p>
                      </a:txBody>
                      <a:tcPr/>
                    </a:tc>
                    <a:tc>
                      <a:txBody>
                        <a:bodyPr/>
                        <a:lstStyle/>
                        <a:p>
                          <a:r>
                            <a:rPr lang="ja-JP" altLang="en-US" dirty="0"/>
                            <a:t>無限遠（重力なし）における基準の時間波密度</a:t>
                          </a:r>
                          <a:endParaRPr kumimoji="1" lang="ja-JP" altLang="en-US" b="1"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2631665355"/>
                      </a:ext>
                    </a:extLst>
                  </a:tr>
                  <a:tr h="461409">
                    <a:tc>
                      <a:txBody>
                        <a:bodyPr/>
                        <a:lstStyle/>
                        <a:p>
                          <a:pPr algn="ctr"/>
                          <a14:m>
                            <m:oMathPara xmlns:m="http://schemas.openxmlformats.org/officeDocument/2006/math">
                              <m:oMathParaPr>
                                <m:jc m:val="centerGroup"/>
                              </m:oMathParaPr>
                              <m:oMath xmlns:m="http://schemas.openxmlformats.org/officeDocument/2006/math">
                                <m:r>
                                  <a:rPr kumimoji="1" lang="el-GR" altLang="ja-JP" i="1" smtClean="0">
                                    <a:latin typeface="Cambria Math" panose="02040503050406030204" pitchFamily="18" charset="0"/>
                                  </a:rPr>
                                  <m:t>𝛷</m:t>
                                </m:r>
                              </m:oMath>
                            </m:oMathPara>
                          </a14:m>
                        </a:p>
                      </a:txBody>
                      <a:tcPr/>
                    </a:tc>
                    <a:tc>
                      <a:txBody>
                        <a:bodyPr/>
                        <a:lstStyle/>
                        <a:p>
                          <a:r>
                            <a:rPr kumimoji="1" lang="ja-JP" altLang="en-US" b="1" dirty="0">
                              <a:latin typeface="游ゴシック" panose="020B0400000000000000" pitchFamily="50" charset="-128"/>
                              <a:ea typeface="游ゴシック" panose="020B0400000000000000" pitchFamily="50" charset="-128"/>
                            </a:rPr>
                            <a:t>重力ポテンシャル</a:t>
                          </a:r>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1" lang="en-US" altLang="ja-JP" b="1" i="1" smtClean="0">
                                        <a:latin typeface="Cambria Math" panose="02040503050406030204" pitchFamily="18" charset="0"/>
                                        <a:ea typeface="游ゴシック" panose="020B0400000000000000" pitchFamily="50" charset="-128"/>
                                      </a:rPr>
                                    </m:ctrlPr>
                                  </m:sSupPr>
                                  <m:e>
                                    <m:r>
                                      <a:rPr kumimoji="1" lang="en-US" altLang="ja-JP" b="1" i="1" smtClean="0">
                                        <a:latin typeface="Cambria Math" panose="02040503050406030204" pitchFamily="18" charset="0"/>
                                        <a:ea typeface="游ゴシック" panose="020B0400000000000000" pitchFamily="50" charset="-128"/>
                                      </a:rPr>
                                      <m:t>𝒎</m:t>
                                    </m:r>
                                  </m:e>
                                  <m:sup>
                                    <m:r>
                                      <a:rPr kumimoji="1" lang="en-US" altLang="ja-JP" b="1" i="1" smtClean="0">
                                        <a:latin typeface="Cambria Math" panose="02040503050406030204" pitchFamily="18" charset="0"/>
                                        <a:ea typeface="游ゴシック" panose="020B0400000000000000" pitchFamily="50" charset="-128"/>
                                      </a:rPr>
                                      <m:t>𝟐</m:t>
                                    </m:r>
                                  </m:sup>
                                </m:sSup>
                                <m:r>
                                  <a:rPr kumimoji="1" lang="en-US" altLang="ja-JP" b="1" i="1" smtClean="0">
                                    <a:latin typeface="Cambria Math" panose="02040503050406030204" pitchFamily="18" charset="0"/>
                                    <a:ea typeface="游ゴシック" panose="020B0400000000000000" pitchFamily="50" charset="-128"/>
                                  </a:rPr>
                                  <m:t>/</m:t>
                                </m:r>
                                <m:sSup>
                                  <m:sSupPr>
                                    <m:ctrlPr>
                                      <a:rPr kumimoji="1" lang="en-US" altLang="ja-JP" b="1" i="1" smtClean="0">
                                        <a:latin typeface="Cambria Math" panose="02040503050406030204" pitchFamily="18" charset="0"/>
                                        <a:ea typeface="游ゴシック" panose="020B0400000000000000" pitchFamily="50" charset="-128"/>
                                      </a:rPr>
                                    </m:ctrlPr>
                                  </m:sSupPr>
                                  <m:e>
                                    <m:r>
                                      <a:rPr kumimoji="1" lang="en-US" altLang="ja-JP" b="1" i="1" smtClean="0">
                                        <a:latin typeface="Cambria Math" panose="02040503050406030204" pitchFamily="18" charset="0"/>
                                        <a:ea typeface="游ゴシック" panose="020B0400000000000000" pitchFamily="50" charset="-128"/>
                                      </a:rPr>
                                      <m:t>𝒔</m:t>
                                    </m:r>
                                  </m:e>
                                  <m:sup>
                                    <m:r>
                                      <a:rPr kumimoji="1" lang="en-US" altLang="ja-JP" b="1" i="1" smtClean="0">
                                        <a:latin typeface="Cambria Math" panose="02040503050406030204" pitchFamily="18" charset="0"/>
                                        <a:ea typeface="游ゴシック" panose="020B0400000000000000" pitchFamily="50" charset="-128"/>
                                      </a:rPr>
                                      <m:t>𝟐</m:t>
                                    </m:r>
                                  </m:sup>
                                </m:sSup>
                              </m:oMath>
                            </m:oMathPara>
                          </a14:m>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kumimoji="1" lang="en-US" altLang="ja-JP" b="1" dirty="0">
                              <a:latin typeface="游ゴシック" panose="020B0400000000000000" pitchFamily="50" charset="-128"/>
                              <a:ea typeface="游ゴシック" panose="020B0400000000000000" pitchFamily="50" charset="-128"/>
                            </a:rPr>
                            <a:t>P</a:t>
                          </a:r>
                          <a:r>
                            <a:rPr kumimoji="1" lang="ja-JP" altLang="en-US" b="1" dirty="0">
                              <a:latin typeface="游ゴシック" panose="020B0400000000000000" pitchFamily="50" charset="-128"/>
                              <a:ea typeface="游ゴシック" panose="020B0400000000000000" pitchFamily="50" charset="-128"/>
                            </a:rPr>
                            <a:t>から定義される重力ポテンシャル（スカラー）</a:t>
                          </a:r>
                        </a:p>
                      </a:txBody>
                      <a:tcPr/>
                    </a:tc>
                    <a:extLst>
                      <a:ext uri="{0D108BD9-81ED-4DB2-BD59-A6C34878D82A}">
                        <a16:rowId xmlns:a16="http://schemas.microsoft.com/office/drawing/2014/main" val="2550897566"/>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ja-JP" altLang="en-US" i="1" smtClean="0">
                                    <a:latin typeface="Cambria Math" panose="02040503050406030204" pitchFamily="18" charset="0"/>
                                  </a:rPr>
                                  <m:t>𝜏</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固有時</a:t>
                          </a:r>
                        </a:p>
                      </a:txBody>
                      <a:tcPr/>
                    </a:tc>
                    <a:tc>
                      <a:txBody>
                        <a:bodyPr/>
                        <a:lstStyle/>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ea typeface="游ゴシック" panose="020B0400000000000000" pitchFamily="50" charset="-128"/>
                                  </a:rPr>
                                  <m:t>𝒔</m:t>
                                </m:r>
                              </m:oMath>
                            </m:oMathPara>
                          </a14:m>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kumimoji="1" lang="ja-JP" altLang="en-US" b="1" dirty="0">
                              <a:latin typeface="游ゴシック" panose="020B0400000000000000" pitchFamily="50" charset="-128"/>
                              <a:ea typeface="游ゴシック" panose="020B0400000000000000" pitchFamily="50" charset="-128"/>
                            </a:rPr>
                            <a:t>物体自身の時計が進む時間</a:t>
                          </a:r>
                        </a:p>
                      </a:txBody>
                      <a:tcPr/>
                    </a:tc>
                    <a:extLst>
                      <a:ext uri="{0D108BD9-81ED-4DB2-BD59-A6C34878D82A}">
                        <a16:rowId xmlns:a16="http://schemas.microsoft.com/office/drawing/2014/main" val="1811695105"/>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𝑡</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外部基準時</a:t>
                          </a:r>
                        </a:p>
                      </a:txBody>
                      <a:tcPr/>
                    </a:tc>
                    <a:tc>
                      <a:txBody>
                        <a:bodyPr/>
                        <a:lstStyle/>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ea typeface="游ゴシック" panose="020B0400000000000000" pitchFamily="50" charset="-128"/>
                                  </a:rPr>
                                  <m:t>𝒔</m:t>
                                </m:r>
                              </m:oMath>
                            </m:oMathPara>
                          </a14:m>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kumimoji="1" lang="ja-JP" altLang="en-US" b="1" dirty="0">
                              <a:latin typeface="游ゴシック" panose="020B0400000000000000" pitchFamily="50" charset="-128"/>
                              <a:ea typeface="游ゴシック" panose="020B0400000000000000" pitchFamily="50" charset="-128"/>
                            </a:rPr>
                            <a:t>遠方の観測者が測る時間</a:t>
                          </a:r>
                        </a:p>
                      </a:txBody>
                      <a:tcPr/>
                    </a:tc>
                    <a:extLst>
                      <a:ext uri="{0D108BD9-81ED-4DB2-BD59-A6C34878D82A}">
                        <a16:rowId xmlns:a16="http://schemas.microsoft.com/office/drawing/2014/main" val="2517646417"/>
                      </a:ext>
                    </a:extLst>
                  </a:tr>
                  <a:tr h="460070">
                    <a:tc>
                      <a:txBody>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𝑙𝑛</m:t>
                                </m:r>
                              </m:oMath>
                            </m:oMathPara>
                          </a14:m>
                          <a:endParaRPr kumimoji="1" lang="ja-JP" altLang="en-US" dirty="0"/>
                        </a:p>
                      </a:txBody>
                      <a:tcPr/>
                    </a:tc>
                    <a:tc>
                      <a:txBody>
                        <a:bodyPr/>
                        <a:lstStyle/>
                        <a:p>
                          <a:r>
                            <a:rPr kumimoji="1" lang="ja-JP" altLang="en-US" b="1" dirty="0">
                              <a:latin typeface="游ゴシック" panose="020B0400000000000000" pitchFamily="50" charset="-128"/>
                              <a:ea typeface="游ゴシック" panose="020B0400000000000000" pitchFamily="50" charset="-128"/>
                            </a:rPr>
                            <a:t>自然対数</a:t>
                          </a:r>
                        </a:p>
                      </a:txBody>
                      <a:tcPr/>
                    </a:tc>
                    <a:tc>
                      <a:txBody>
                        <a:bodyPr/>
                        <a:lstStyle/>
                        <a:p>
                          <a:pPr algn="ctr"/>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1" lang="el-GR" altLang="ja-JP" sz="1600" i="1" smtClean="0">
                                      <a:latin typeface="Cambria Math" panose="02040503050406030204" pitchFamily="18" charset="0"/>
                                      <a:ea typeface="Cambria Math" panose="02040503050406030204" pitchFamily="18" charset="0"/>
                                    </a:rPr>
                                  </m:ctrlPr>
                                </m:fPr>
                                <m:num>
                                  <m:r>
                                    <a:rPr kumimoji="1" lang="en-US" altLang="ja-JP" sz="1600" i="1">
                                      <a:latin typeface="Cambria Math" panose="02040503050406030204" pitchFamily="18" charset="0"/>
                                      <a:ea typeface="Cambria Math" panose="02040503050406030204" pitchFamily="18" charset="0"/>
                                    </a:rPr>
                                    <m:t>𝑃</m:t>
                                  </m:r>
                                </m:num>
                                <m:den>
                                  <m:sSub>
                                    <m:sSubPr>
                                      <m:ctrlPr>
                                        <a:rPr kumimoji="1" lang="el-GR" altLang="ja-JP" sz="1600" i="1">
                                          <a:latin typeface="Cambria Math" panose="02040503050406030204" pitchFamily="18" charset="0"/>
                                          <a:ea typeface="Cambria Math" panose="02040503050406030204" pitchFamily="18" charset="0"/>
                                        </a:rPr>
                                      </m:ctrlPr>
                                    </m:sSubPr>
                                    <m:e>
                                      <m:r>
                                        <a:rPr kumimoji="1" lang="en-US" altLang="ja-JP" sz="1600" i="1">
                                          <a:latin typeface="Cambria Math" panose="02040503050406030204" pitchFamily="18" charset="0"/>
                                          <a:ea typeface="Cambria Math" panose="02040503050406030204" pitchFamily="18" charset="0"/>
                                        </a:rPr>
                                        <m:t>𝑃</m:t>
                                      </m:r>
                                    </m:e>
                                    <m:sub>
                                      <m:r>
                                        <a:rPr kumimoji="1" lang="en-US" altLang="ja-JP" sz="1600" i="1">
                                          <a:latin typeface="Cambria Math" panose="02040503050406030204" pitchFamily="18" charset="0"/>
                                          <a:ea typeface="Cambria Math" panose="02040503050406030204" pitchFamily="18" charset="0"/>
                                        </a:rPr>
                                        <m:t>0</m:t>
                                      </m:r>
                                    </m:sub>
                                  </m:sSub>
                                </m:den>
                              </m:f>
                            </m:oMath>
                          </a14:m>
                          <a:r>
                            <a:rPr kumimoji="1" lang="ja-JP" altLang="en-US" sz="1600" b="1" dirty="0">
                              <a:latin typeface="游ゴシック" panose="020B0400000000000000" pitchFamily="50" charset="-128"/>
                              <a:ea typeface="游ゴシック" panose="020B0400000000000000" pitchFamily="50" charset="-128"/>
                            </a:rPr>
                            <a:t>は密度を表すので複数の重力が影響を及ぼす場合掛け算となる。</a:t>
                          </a:r>
                          <a:endParaRPr kumimoji="1" lang="en-US" altLang="ja-JP" sz="1600" b="1" dirty="0">
                            <a:latin typeface="游ゴシック" panose="020B0400000000000000" pitchFamily="50" charset="-128"/>
                            <a:ea typeface="游ゴシック" panose="020B0400000000000000" pitchFamily="50"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600" b="1" dirty="0">
                              <a:latin typeface="游ゴシック" panose="020B0400000000000000" pitchFamily="50" charset="-128"/>
                              <a:ea typeface="游ゴシック" panose="020B0400000000000000" pitchFamily="50" charset="-128"/>
                            </a:rPr>
                            <a:t>一方</a:t>
                          </a:r>
                          <a14:m>
                            <m:oMath xmlns:m="http://schemas.openxmlformats.org/officeDocument/2006/math">
                              <m:r>
                                <a:rPr kumimoji="1" lang="el-GR" altLang="ja-JP" sz="1600" i="1" smtClean="0">
                                  <a:latin typeface="Cambria Math" panose="02040503050406030204" pitchFamily="18" charset="0"/>
                                </a:rPr>
                                <m:t>𝛷</m:t>
                              </m:r>
                            </m:oMath>
                          </a14:m>
                          <a:r>
                            <a:rPr kumimoji="1" lang="ja-JP" altLang="en-US" sz="1600" b="1" dirty="0">
                              <a:latin typeface="游ゴシック" panose="020B0400000000000000" pitchFamily="50" charset="-128"/>
                              <a:ea typeface="游ゴシック" panose="020B0400000000000000" pitchFamily="50" charset="-128"/>
                            </a:rPr>
                            <a:t>はエネルギーのように積み上げ（</a:t>
                          </a:r>
                          <a14:m>
                            <m:oMath xmlns:m="http://schemas.openxmlformats.org/officeDocument/2006/math">
                              <m:sSub>
                                <m:sSubPr>
                                  <m:ctrlPr>
                                    <a:rPr kumimoji="1" lang="en-US" altLang="ja-JP" sz="1600" b="1" i="1" smtClean="0">
                                      <a:latin typeface="Cambria Math" panose="02040503050406030204" pitchFamily="18" charset="0"/>
                                      <a:ea typeface="游ゴシック" panose="020B0400000000000000" pitchFamily="50" charset="-128"/>
                                    </a:rPr>
                                  </m:ctrlPr>
                                </m:sSubPr>
                                <m:e>
                                  <m:r>
                                    <a:rPr kumimoji="1" lang="el-GR" altLang="ja-JP" sz="1600" i="1" smtClean="0">
                                      <a:latin typeface="Cambria Math" panose="02040503050406030204" pitchFamily="18" charset="0"/>
                                    </a:rPr>
                                    <m:t>𝛷</m:t>
                                  </m:r>
                                </m:e>
                                <m:sub>
                                  <m:r>
                                    <a:rPr kumimoji="1" lang="en-US" altLang="ja-JP" sz="1600" b="1" i="1" smtClean="0">
                                      <a:latin typeface="Cambria Math" panose="02040503050406030204" pitchFamily="18" charset="0"/>
                                      <a:ea typeface="游ゴシック" panose="020B0400000000000000" pitchFamily="50" charset="-128"/>
                                    </a:rPr>
                                    <m:t>𝑨</m:t>
                                  </m:r>
                                </m:sub>
                              </m:sSub>
                              <m:r>
                                <a:rPr kumimoji="1" lang="en-US" altLang="ja-JP" sz="1600" b="1" i="1" smtClean="0">
                                  <a:latin typeface="Cambria Math" panose="02040503050406030204" pitchFamily="18" charset="0"/>
                                  <a:ea typeface="游ゴシック" panose="020B0400000000000000" pitchFamily="50" charset="-128"/>
                                </a:rPr>
                                <m:t>+</m:t>
                              </m:r>
                              <m:sSub>
                                <m:sSubPr>
                                  <m:ctrlPr>
                                    <a:rPr kumimoji="1" lang="en-US" altLang="ja-JP" sz="1600" b="1" i="1" smtClean="0">
                                      <a:latin typeface="Cambria Math" panose="02040503050406030204" pitchFamily="18" charset="0"/>
                                      <a:ea typeface="游ゴシック" panose="020B0400000000000000" pitchFamily="50" charset="-128"/>
                                    </a:rPr>
                                  </m:ctrlPr>
                                </m:sSubPr>
                                <m:e>
                                  <m:r>
                                    <a:rPr kumimoji="1" lang="el-GR" altLang="ja-JP" sz="1600" i="1" smtClean="0">
                                      <a:latin typeface="Cambria Math" panose="02040503050406030204" pitchFamily="18" charset="0"/>
                                    </a:rPr>
                                    <m:t>𝛷</m:t>
                                  </m:r>
                                </m:e>
                                <m:sub>
                                  <m:r>
                                    <a:rPr kumimoji="1" lang="en-US" altLang="ja-JP" sz="1600" b="1" i="1" smtClean="0">
                                      <a:latin typeface="Cambria Math" panose="02040503050406030204" pitchFamily="18" charset="0"/>
                                    </a:rPr>
                                    <m:t>𝑩</m:t>
                                  </m:r>
                                </m:sub>
                              </m:sSub>
                            </m:oMath>
                          </a14:m>
                          <a:r>
                            <a:rPr kumimoji="1" lang="ja-JP" altLang="en-US" sz="1600" b="1" dirty="0">
                              <a:latin typeface="游ゴシック" panose="020B0400000000000000" pitchFamily="50" charset="-128"/>
                              <a:ea typeface="游ゴシック" panose="020B0400000000000000" pitchFamily="50" charset="-128"/>
                            </a:rPr>
                            <a:t>）で効果が決まる。この掛け算の性質を持つ密度を足し算の性質を持つ重力として扱うために</a:t>
                          </a:r>
                          <a14:m>
                            <m:oMath xmlns:m="http://schemas.openxmlformats.org/officeDocument/2006/math">
                              <m:r>
                                <a:rPr kumimoji="1" lang="en-US" altLang="ja-JP" sz="1600" b="0" i="1" smtClean="0">
                                  <a:latin typeface="Cambria Math" panose="02040503050406030204" pitchFamily="18" charset="0"/>
                                </a:rPr>
                                <m:t>𝑙𝑛</m:t>
                              </m:r>
                            </m:oMath>
                          </a14:m>
                          <a:r>
                            <a:rPr kumimoji="1" lang="ja-JP" altLang="en-US" sz="1600" b="1" dirty="0">
                              <a:latin typeface="游ゴシック" panose="020B0400000000000000" pitchFamily="50" charset="-128"/>
                              <a:ea typeface="游ゴシック" panose="020B0400000000000000" pitchFamily="50" charset="-128"/>
                            </a:rPr>
                            <a:t>を利用。</a:t>
                          </a:r>
                          <a:endParaRPr kumimoji="1" lang="ja-JP" altLang="en-US" sz="1600" dirty="0"/>
                        </a:p>
                      </a:txBody>
                      <a:tcPr/>
                    </a:tc>
                    <a:extLst>
                      <a:ext uri="{0D108BD9-81ED-4DB2-BD59-A6C34878D82A}">
                        <a16:rowId xmlns:a16="http://schemas.microsoft.com/office/drawing/2014/main" val="654864877"/>
                      </a:ext>
                    </a:extLst>
                  </a:tr>
                </a:tbl>
              </a:graphicData>
            </a:graphic>
          </p:graphicFrame>
        </mc:Choice>
        <mc:Fallback>
          <p:graphicFrame>
            <p:nvGraphicFramePr>
              <p:cNvPr id="38" name="表 37">
                <a:extLst>
                  <a:ext uri="{FF2B5EF4-FFF2-40B4-BE49-F238E27FC236}">
                    <a16:creationId xmlns:a16="http://schemas.microsoft.com/office/drawing/2014/main" id="{5D3C47FD-0134-C5A6-37C4-56399BD49AA1}"/>
                  </a:ext>
                </a:extLst>
              </p:cNvPr>
              <p:cNvGraphicFramePr>
                <a:graphicFrameLocks noGrp="1"/>
              </p:cNvGraphicFramePr>
              <p:nvPr>
                <p:extLst>
                  <p:ext uri="{D42A27DB-BD31-4B8C-83A1-F6EECF244321}">
                    <p14:modId xmlns:p14="http://schemas.microsoft.com/office/powerpoint/2010/main" val="1089253183"/>
                  </p:ext>
                </p:extLst>
              </p:nvPr>
            </p:nvGraphicFramePr>
            <p:xfrm>
              <a:off x="815954" y="1118045"/>
              <a:ext cx="10621052" cy="5341421"/>
            </p:xfrm>
            <a:graphic>
              <a:graphicData uri="http://schemas.openxmlformats.org/drawingml/2006/table">
                <a:tbl>
                  <a:tblPr firstRow="1" bandRow="1">
                    <a:tableStyleId>{5C22544A-7EE6-4342-B048-85BDC9FD1C3A}</a:tableStyleId>
                  </a:tblPr>
                  <a:tblGrid>
                    <a:gridCol w="830431">
                      <a:extLst>
                        <a:ext uri="{9D8B030D-6E8A-4147-A177-3AD203B41FA5}">
                          <a16:colId xmlns:a16="http://schemas.microsoft.com/office/drawing/2014/main" val="1344905087"/>
                        </a:ext>
                      </a:extLst>
                    </a:gridCol>
                    <a:gridCol w="2076768">
                      <a:extLst>
                        <a:ext uri="{9D8B030D-6E8A-4147-A177-3AD203B41FA5}">
                          <a16:colId xmlns:a16="http://schemas.microsoft.com/office/drawing/2014/main" val="2630913263"/>
                        </a:ext>
                      </a:extLst>
                    </a:gridCol>
                    <a:gridCol w="906653">
                      <a:extLst>
                        <a:ext uri="{9D8B030D-6E8A-4147-A177-3AD203B41FA5}">
                          <a16:colId xmlns:a16="http://schemas.microsoft.com/office/drawing/2014/main" val="1747158198"/>
                        </a:ext>
                      </a:extLst>
                    </a:gridCol>
                    <a:gridCol w="6807200">
                      <a:extLst>
                        <a:ext uri="{9D8B030D-6E8A-4147-A177-3AD203B41FA5}">
                          <a16:colId xmlns:a16="http://schemas.microsoft.com/office/drawing/2014/main" val="776966357"/>
                        </a:ext>
                      </a:extLst>
                    </a:gridCol>
                  </a:tblGrid>
                  <a:tr h="460070">
                    <a:tc>
                      <a:txBody>
                        <a:bodyPr/>
                        <a:lstStyle/>
                        <a:p>
                          <a:pPr algn="ctr"/>
                          <a:r>
                            <a:rPr kumimoji="1" lang="ja-JP" altLang="en-US" sz="1600" dirty="0">
                              <a:latin typeface="游ゴシック" panose="020B0400000000000000" pitchFamily="50" charset="-128"/>
                              <a:ea typeface="游ゴシック" panose="020B0400000000000000" pitchFamily="50" charset="-128"/>
                            </a:rPr>
                            <a:t>変数</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名称</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単位</a:t>
                          </a:r>
                        </a:p>
                      </a:txBody>
                      <a:tcPr/>
                    </a:tc>
                    <a:tc>
                      <a:txBody>
                        <a:bodyPr/>
                        <a:lstStyle/>
                        <a:p>
                          <a:pPr algn="ctr"/>
                          <a:r>
                            <a:rPr kumimoji="1" lang="ja-JP" altLang="en-US" sz="1600" dirty="0">
                              <a:latin typeface="游ゴシック" panose="020B0400000000000000" pitchFamily="50" charset="-128"/>
                              <a:ea typeface="游ゴシック" panose="020B0400000000000000" pitchFamily="50" charset="-128"/>
                            </a:rPr>
                            <a:t>解説</a:t>
                          </a:r>
                        </a:p>
                      </a:txBody>
                      <a:tcPr/>
                    </a:tc>
                    <a:extLst>
                      <a:ext uri="{0D108BD9-81ED-4DB2-BD59-A6C34878D82A}">
                        <a16:rowId xmlns:a16="http://schemas.microsoft.com/office/drawing/2014/main" val="2244143122"/>
                      </a:ext>
                    </a:extLst>
                  </a:tr>
                  <a:tr h="460070">
                    <a:tc>
                      <a:txBody>
                        <a:bodyPr/>
                        <a:lstStyle/>
                        <a:p>
                          <a:endParaRPr lang="ja-JP"/>
                        </a:p>
                      </a:txBody>
                      <a:tcPr>
                        <a:blipFill>
                          <a:blip r:embed="rId2"/>
                          <a:stretch>
                            <a:fillRect l="-735" t="-105333" r="-1185294" b="-985333"/>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光の速度</a:t>
                          </a:r>
                        </a:p>
                      </a:txBody>
                      <a:tcPr/>
                    </a:tc>
                    <a:tc>
                      <a:txBody>
                        <a:bodyPr/>
                        <a:lstStyle/>
                        <a:p>
                          <a:endParaRPr lang="ja-JP"/>
                        </a:p>
                      </a:txBody>
                      <a:tcPr>
                        <a:blipFill>
                          <a:blip r:embed="rId2"/>
                          <a:stretch>
                            <a:fillRect l="-320805" t="-105333" r="-753020" b="-985333"/>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真空中の光速度（定数）</a:t>
                          </a:r>
                        </a:p>
                      </a:txBody>
                      <a:tcPr/>
                    </a:tc>
                    <a:extLst>
                      <a:ext uri="{0D108BD9-81ED-4DB2-BD59-A6C34878D82A}">
                        <a16:rowId xmlns:a16="http://schemas.microsoft.com/office/drawing/2014/main" val="4228852717"/>
                      </a:ext>
                    </a:extLst>
                  </a:tr>
                  <a:tr h="460070">
                    <a:tc>
                      <a:txBody>
                        <a:bodyPr/>
                        <a:lstStyle/>
                        <a:p>
                          <a:endParaRPr lang="ja-JP"/>
                        </a:p>
                      </a:txBody>
                      <a:tcPr>
                        <a:blipFill>
                          <a:blip r:embed="rId2"/>
                          <a:stretch>
                            <a:fillRect l="-735" t="-202632" r="-1185294" b="-872368"/>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速度</a:t>
                          </a:r>
                        </a:p>
                      </a:txBody>
                      <a:tcPr/>
                    </a:tc>
                    <a:tc>
                      <a:txBody>
                        <a:bodyPr/>
                        <a:lstStyle/>
                        <a:p>
                          <a:endParaRPr lang="ja-JP"/>
                        </a:p>
                      </a:txBody>
                      <a:tcPr>
                        <a:blipFill>
                          <a:blip r:embed="rId2"/>
                          <a:stretch>
                            <a:fillRect l="-320805" t="-202632" r="-753020" b="-872368"/>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観測対象の移動速度</a:t>
                          </a:r>
                        </a:p>
                      </a:txBody>
                      <a:tcPr/>
                    </a:tc>
                    <a:extLst>
                      <a:ext uri="{0D108BD9-81ED-4DB2-BD59-A6C34878D82A}">
                        <a16:rowId xmlns:a16="http://schemas.microsoft.com/office/drawing/2014/main" val="1750437651"/>
                      </a:ext>
                    </a:extLst>
                  </a:tr>
                  <a:tr h="460070">
                    <a:tc>
                      <a:txBody>
                        <a:bodyPr/>
                        <a:lstStyle/>
                        <a:p>
                          <a:endParaRPr lang="ja-JP"/>
                        </a:p>
                      </a:txBody>
                      <a:tcPr>
                        <a:blipFill>
                          <a:blip r:embed="rId2"/>
                          <a:stretch>
                            <a:fillRect l="-735" t="-306667" r="-1185294" b="-784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飽和パラメータ</a:t>
                          </a:r>
                        </a:p>
                      </a:txBody>
                      <a:tcPr/>
                    </a:tc>
                    <a:tc>
                      <a:txBody>
                        <a:bodyPr/>
                        <a:lstStyle/>
                        <a:p>
                          <a:pPr algn="ctr"/>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r>
                            <a:rPr lang="en-US" altLang="ja-JP" b="1" dirty="0" err="1">
                              <a:effectLst/>
                              <a:latin typeface="游ゴシック" panose="020B0400000000000000" pitchFamily="50" charset="-128"/>
                              <a:ea typeface="游ゴシック" panose="020B0400000000000000" pitchFamily="50" charset="-128"/>
                            </a:rPr>
                            <a:t>v→</a:t>
                          </a:r>
                          <a:r>
                            <a:rPr lang="en-US" altLang="ja-JP" b="1" dirty="0" err="1">
                              <a:latin typeface="游ゴシック" panose="020B0400000000000000" pitchFamily="50" charset="-128"/>
                              <a:ea typeface="游ゴシック" panose="020B0400000000000000" pitchFamily="50" charset="-128"/>
                            </a:rPr>
                            <a:t>c</a:t>
                          </a:r>
                          <a:r>
                            <a:rPr lang="en-US" altLang="ja-JP" b="1" dirty="0">
                              <a:latin typeface="游ゴシック" panose="020B0400000000000000" pitchFamily="50" charset="-128"/>
                              <a:ea typeface="游ゴシック" panose="020B0400000000000000" pitchFamily="50" charset="-128"/>
                            </a:rPr>
                            <a:t> </a:t>
                          </a:r>
                          <a:r>
                            <a:rPr lang="ja-JP" altLang="en-US" b="1" dirty="0">
                              <a:latin typeface="游ゴシック" panose="020B0400000000000000" pitchFamily="50" charset="-128"/>
                              <a:ea typeface="游ゴシック" panose="020B0400000000000000" pitchFamily="50" charset="-128"/>
                            </a:rPr>
                            <a:t>で時間が</a:t>
                          </a:r>
                          <a:r>
                            <a:rPr lang="en-US" altLang="ja-JP" b="1" dirty="0">
                              <a:latin typeface="游ゴシック" panose="020B0400000000000000" pitchFamily="50" charset="-128"/>
                              <a:ea typeface="游ゴシック" panose="020B0400000000000000" pitchFamily="50" charset="-128"/>
                            </a:rPr>
                            <a:t>0</a:t>
                          </a:r>
                          <a:r>
                            <a:rPr lang="ja-JP" altLang="en-US" b="1" dirty="0">
                              <a:latin typeface="游ゴシック" panose="020B0400000000000000" pitchFamily="50" charset="-128"/>
                              <a:ea typeface="游ゴシック" panose="020B0400000000000000" pitchFamily="50" charset="-128"/>
                            </a:rPr>
                            <a:t>にならないための</a:t>
                          </a:r>
                          <a:r>
                            <a:rPr lang="en-US" altLang="ja-JP" b="1" dirty="0">
                              <a:latin typeface="游ゴシック" panose="020B0400000000000000" pitchFamily="50" charset="-128"/>
                              <a:ea typeface="游ゴシック" panose="020B0400000000000000" pitchFamily="50" charset="-128"/>
                            </a:rPr>
                            <a:t>P-model</a:t>
                          </a:r>
                          <a:r>
                            <a:rPr lang="ja-JP" altLang="en-US" b="1" dirty="0">
                              <a:latin typeface="游ゴシック" panose="020B0400000000000000" pitchFamily="50" charset="-128"/>
                              <a:ea typeface="游ゴシック" panose="020B0400000000000000" pitchFamily="50" charset="-128"/>
                            </a:rPr>
                            <a:t>固有定数（無次元）</a:t>
                          </a:r>
                          <a:endParaRPr kumimoji="1" lang="ja-JP" altLang="en-US" b="1"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13789195"/>
                      </a:ext>
                    </a:extLst>
                  </a:tr>
                  <a:tr h="460070">
                    <a:tc>
                      <a:txBody>
                        <a:bodyPr/>
                        <a:lstStyle/>
                        <a:p>
                          <a:endParaRPr lang="ja-JP"/>
                        </a:p>
                      </a:txBody>
                      <a:tcPr>
                        <a:blipFill>
                          <a:blip r:embed="rId2"/>
                          <a:stretch>
                            <a:fillRect l="-735" t="-401316" r="-1185294" b="-673684"/>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時間波密度</a:t>
                          </a:r>
                        </a:p>
                      </a:txBody>
                      <a:tcPr/>
                    </a:tc>
                    <a:tc>
                      <a:txBody>
                        <a:bodyPr/>
                        <a:lstStyle/>
                        <a:p>
                          <a:pPr algn="ctr"/>
                          <a:r>
                            <a:rPr kumimoji="1" lang="ja-JP" altLang="en-US" b="1" dirty="0">
                              <a:latin typeface="游ゴシック" panose="020B0400000000000000" pitchFamily="50" charset="-128"/>
                              <a:ea typeface="游ゴシック" panose="020B0400000000000000" pitchFamily="50" charset="-128"/>
                            </a:rPr>
                            <a:t>任意</a:t>
                          </a:r>
                        </a:p>
                      </a:txBody>
                      <a:tcPr/>
                    </a:tc>
                    <a:tc>
                      <a:txBody>
                        <a:bodyPr/>
                        <a:lstStyle/>
                        <a:p>
                          <a:r>
                            <a:rPr kumimoji="1" lang="ja-JP" altLang="en-US" b="1" dirty="0">
                              <a:latin typeface="游ゴシック" panose="020B0400000000000000" pitchFamily="50" charset="-128"/>
                              <a:ea typeface="游ゴシック" panose="020B0400000000000000" pitchFamily="50" charset="-128"/>
                            </a:rPr>
                            <a:t>時間の刻みの細かさを表すスカラー量</a:t>
                          </a:r>
                        </a:p>
                      </a:txBody>
                      <a:tcPr/>
                    </a:tc>
                    <a:extLst>
                      <a:ext uri="{0D108BD9-81ED-4DB2-BD59-A6C34878D82A}">
                        <a16:rowId xmlns:a16="http://schemas.microsoft.com/office/drawing/2014/main" val="11616117"/>
                      </a:ext>
                    </a:extLst>
                  </a:tr>
                  <a:tr h="460070">
                    <a:tc>
                      <a:txBody>
                        <a:bodyPr/>
                        <a:lstStyle/>
                        <a:p>
                          <a:endParaRPr lang="ja-JP"/>
                        </a:p>
                      </a:txBody>
                      <a:tcPr>
                        <a:blipFill>
                          <a:blip r:embed="rId2"/>
                          <a:stretch>
                            <a:fillRect l="-735" t="-508000" r="-1185294" b="-582667"/>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基準密度</a:t>
                          </a:r>
                        </a:p>
                      </a:txBody>
                      <a:tcPr/>
                    </a:tc>
                    <a:tc>
                      <a:txBody>
                        <a:bodyPr/>
                        <a:lstStyle/>
                        <a:p>
                          <a:pPr algn="ctr"/>
                          <a:r>
                            <a:rPr kumimoji="1" lang="ja-JP" altLang="en-US" b="1" dirty="0">
                              <a:latin typeface="游ゴシック" panose="020B0400000000000000" pitchFamily="50" charset="-128"/>
                              <a:ea typeface="游ゴシック" panose="020B0400000000000000" pitchFamily="50" charset="-128"/>
                            </a:rPr>
                            <a:t>任意</a:t>
                          </a:r>
                        </a:p>
                      </a:txBody>
                      <a:tcPr/>
                    </a:tc>
                    <a:tc>
                      <a:txBody>
                        <a:bodyPr/>
                        <a:lstStyle/>
                        <a:p>
                          <a:r>
                            <a:rPr lang="ja-JP" altLang="en-US" dirty="0"/>
                            <a:t>無限遠（重力なし）における基準の時間波密度</a:t>
                          </a:r>
                          <a:endParaRPr kumimoji="1" lang="ja-JP" altLang="en-US" b="1"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2631665355"/>
                      </a:ext>
                    </a:extLst>
                  </a:tr>
                  <a:tr h="461409">
                    <a:tc>
                      <a:txBody>
                        <a:bodyPr/>
                        <a:lstStyle/>
                        <a:p>
                          <a:endParaRPr lang="ja-JP"/>
                        </a:p>
                      </a:txBody>
                      <a:tcPr>
                        <a:blipFill>
                          <a:blip r:embed="rId2"/>
                          <a:stretch>
                            <a:fillRect l="-735" t="-600000" r="-1185294" b="-475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重力ポテンシャル</a:t>
                          </a:r>
                        </a:p>
                      </a:txBody>
                      <a:tcPr/>
                    </a:tc>
                    <a:tc>
                      <a:txBody>
                        <a:bodyPr/>
                        <a:lstStyle/>
                        <a:p>
                          <a:endParaRPr lang="ja-JP"/>
                        </a:p>
                      </a:txBody>
                      <a:tcPr>
                        <a:blipFill>
                          <a:blip r:embed="rId2"/>
                          <a:stretch>
                            <a:fillRect l="-320805" t="-600000" r="-753020" b="-475000"/>
                          </a:stretch>
                        </a:blipFill>
                      </a:tcPr>
                    </a:tc>
                    <a:tc>
                      <a:txBody>
                        <a:bodyPr/>
                        <a:lstStyle/>
                        <a:p>
                          <a:r>
                            <a:rPr kumimoji="1" lang="en-US" altLang="ja-JP" b="1" dirty="0">
                              <a:latin typeface="游ゴシック" panose="020B0400000000000000" pitchFamily="50" charset="-128"/>
                              <a:ea typeface="游ゴシック" panose="020B0400000000000000" pitchFamily="50" charset="-128"/>
                            </a:rPr>
                            <a:t>P</a:t>
                          </a:r>
                          <a:r>
                            <a:rPr kumimoji="1" lang="ja-JP" altLang="en-US" b="1" dirty="0">
                              <a:latin typeface="游ゴシック" panose="020B0400000000000000" pitchFamily="50" charset="-128"/>
                              <a:ea typeface="游ゴシック" panose="020B0400000000000000" pitchFamily="50" charset="-128"/>
                            </a:rPr>
                            <a:t>から定義される重力ポテンシャル（スカラー）</a:t>
                          </a:r>
                        </a:p>
                      </a:txBody>
                      <a:tcPr/>
                    </a:tc>
                    <a:extLst>
                      <a:ext uri="{0D108BD9-81ED-4DB2-BD59-A6C34878D82A}">
                        <a16:rowId xmlns:a16="http://schemas.microsoft.com/office/drawing/2014/main" val="2550897566"/>
                      </a:ext>
                    </a:extLst>
                  </a:tr>
                  <a:tr h="460070">
                    <a:tc>
                      <a:txBody>
                        <a:bodyPr/>
                        <a:lstStyle/>
                        <a:p>
                          <a:endParaRPr lang="ja-JP"/>
                        </a:p>
                      </a:txBody>
                      <a:tcPr>
                        <a:blipFill>
                          <a:blip r:embed="rId2"/>
                          <a:stretch>
                            <a:fillRect l="-735" t="-700000" r="-1185294" b="-375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固有時</a:t>
                          </a:r>
                        </a:p>
                      </a:txBody>
                      <a:tcPr/>
                    </a:tc>
                    <a:tc>
                      <a:txBody>
                        <a:bodyPr/>
                        <a:lstStyle/>
                        <a:p>
                          <a:endParaRPr lang="ja-JP"/>
                        </a:p>
                      </a:txBody>
                      <a:tcPr>
                        <a:blipFill>
                          <a:blip r:embed="rId2"/>
                          <a:stretch>
                            <a:fillRect l="-320805" t="-700000" r="-753020" b="-375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物体自身の時計が進む時間</a:t>
                          </a:r>
                        </a:p>
                      </a:txBody>
                      <a:tcPr/>
                    </a:tc>
                    <a:extLst>
                      <a:ext uri="{0D108BD9-81ED-4DB2-BD59-A6C34878D82A}">
                        <a16:rowId xmlns:a16="http://schemas.microsoft.com/office/drawing/2014/main" val="1811695105"/>
                      </a:ext>
                    </a:extLst>
                  </a:tr>
                  <a:tr h="460070">
                    <a:tc>
                      <a:txBody>
                        <a:bodyPr/>
                        <a:lstStyle/>
                        <a:p>
                          <a:endParaRPr lang="ja-JP"/>
                        </a:p>
                      </a:txBody>
                      <a:tcPr>
                        <a:blipFill>
                          <a:blip r:embed="rId2"/>
                          <a:stretch>
                            <a:fillRect l="-735" t="-810667" r="-1185294" b="-280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外部基準時</a:t>
                          </a:r>
                        </a:p>
                      </a:txBody>
                      <a:tcPr/>
                    </a:tc>
                    <a:tc>
                      <a:txBody>
                        <a:bodyPr/>
                        <a:lstStyle/>
                        <a:p>
                          <a:endParaRPr lang="ja-JP"/>
                        </a:p>
                      </a:txBody>
                      <a:tcPr>
                        <a:blipFill>
                          <a:blip r:embed="rId2"/>
                          <a:stretch>
                            <a:fillRect l="-320805" t="-810667" r="-753020" b="-280000"/>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遠方の観測者が測る時間</a:t>
                          </a:r>
                        </a:p>
                      </a:txBody>
                      <a:tcPr/>
                    </a:tc>
                    <a:extLst>
                      <a:ext uri="{0D108BD9-81ED-4DB2-BD59-A6C34878D82A}">
                        <a16:rowId xmlns:a16="http://schemas.microsoft.com/office/drawing/2014/main" val="2517646417"/>
                      </a:ext>
                    </a:extLst>
                  </a:tr>
                  <a:tr h="1199452">
                    <a:tc>
                      <a:txBody>
                        <a:bodyPr/>
                        <a:lstStyle/>
                        <a:p>
                          <a:endParaRPr lang="ja-JP"/>
                        </a:p>
                      </a:txBody>
                      <a:tcPr>
                        <a:blipFill>
                          <a:blip r:embed="rId2"/>
                          <a:stretch>
                            <a:fillRect l="-735" t="-346701" r="-1185294" b="-6599"/>
                          </a:stretch>
                        </a:blipFill>
                      </a:tcPr>
                    </a:tc>
                    <a:tc>
                      <a:txBody>
                        <a:bodyPr/>
                        <a:lstStyle/>
                        <a:p>
                          <a:r>
                            <a:rPr kumimoji="1" lang="ja-JP" altLang="en-US" b="1" dirty="0">
                              <a:latin typeface="游ゴシック" panose="020B0400000000000000" pitchFamily="50" charset="-128"/>
                              <a:ea typeface="游ゴシック" panose="020B0400000000000000" pitchFamily="50" charset="-128"/>
                            </a:rPr>
                            <a:t>自然対数</a:t>
                          </a:r>
                        </a:p>
                      </a:txBody>
                      <a:tcPr/>
                    </a:tc>
                    <a:tc>
                      <a:txBody>
                        <a:bodyPr/>
                        <a:lstStyle/>
                        <a:p>
                          <a:pPr algn="ctr"/>
                          <a:endParaRPr kumimoji="1" lang="ja-JP" altLang="en-US" b="1" dirty="0">
                            <a:latin typeface="游ゴシック" panose="020B0400000000000000" pitchFamily="50" charset="-128"/>
                            <a:ea typeface="游ゴシック" panose="020B0400000000000000" pitchFamily="50" charset="-128"/>
                          </a:endParaRPr>
                        </a:p>
                      </a:txBody>
                      <a:tcPr/>
                    </a:tc>
                    <a:tc>
                      <a:txBody>
                        <a:bodyPr/>
                        <a:lstStyle/>
                        <a:p>
                          <a:endParaRPr lang="ja-JP"/>
                        </a:p>
                      </a:txBody>
                      <a:tcPr>
                        <a:blipFill>
                          <a:blip r:embed="rId2"/>
                          <a:stretch>
                            <a:fillRect l="-56082" t="-346701" r="-358" b="-6599"/>
                          </a:stretch>
                        </a:blipFill>
                      </a:tcPr>
                    </a:tc>
                    <a:extLst>
                      <a:ext uri="{0D108BD9-81ED-4DB2-BD59-A6C34878D82A}">
                        <a16:rowId xmlns:a16="http://schemas.microsoft.com/office/drawing/2014/main" val="654864877"/>
                      </a:ext>
                    </a:extLst>
                  </a:tr>
                </a:tbl>
              </a:graphicData>
            </a:graphic>
          </p:graphicFrame>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365</TotalTime>
  <Words>301</Words>
  <Application>Microsoft Office PowerPoint</Application>
  <PresentationFormat>ワイド画面</PresentationFormat>
  <Paragraphs>60</Paragraphs>
  <Slides>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vt:i4>
      </vt:variant>
    </vt:vector>
  </HeadingPairs>
  <TitlesOfParts>
    <vt:vector size="8" baseType="lpstr">
      <vt:lpstr>Meiryo</vt:lpstr>
      <vt:lpstr>游ゴシック</vt:lpstr>
      <vt:lpstr>Arial</vt:lpstr>
      <vt:lpstr>Calibri</vt:lpstr>
      <vt:lpstr>Cambria Math</vt:lpstr>
      <vt:lpstr>Office Theme</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shunji ogawa</cp:lastModifiedBy>
  <cp:revision>8</cp:revision>
  <dcterms:created xsi:type="dcterms:W3CDTF">2013-01-27T09:14:16Z</dcterms:created>
  <dcterms:modified xsi:type="dcterms:W3CDTF">2025-12-31T06:33:54Z</dcterms:modified>
  <cp:category/>
</cp:coreProperties>
</file>